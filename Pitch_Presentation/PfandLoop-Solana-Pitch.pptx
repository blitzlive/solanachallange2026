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96"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785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 20 seconds. Imagine buying a coffee at one stand and returning the cup at another. The cup moves, but the deposit should still find its way back to the right person. PfandLoop links the customer, container and return in one simple flow. We built the working product journey and a Solana integration for independently inspectable records. The following demo uses fictional users and simulated balances.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 30 seconds. Our initial target is a campus event with two participating stands. Staff need to know which registered container has come back, whether its deposit is still open, and who should receive the refund. Customers need clear acceptance rules and a balance they can understand. We are targeting that coordination problem; we have not measured its prevalence or claimed every existing system has it. Validate the pain and current reconciliation effort with organizer and staff interviews before a pilot.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Solution — 30 seconds. The merchant issues a uniquely identified container against a member. The customer sees the held deposit. Another participating station can accept that registered container. Staff must confirm physical receipt before the refund proceeds. The refund belongs to the stored original payer, not whoever types a new wallet address at the counter. In the default product demo these are simulated balances; the optional token adapter is custodial Devnet test USDC.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Prototype — 25 seconds. The customer screen shows the digital member card, balance and held deposits, plus active loans and exportable history. The merchant screen issues containers and accepts returns. We use familiar deposit amounts and explicit actions. A customer does not need to understand transaction hashes to follow the demo. The current membership QR is not proof of a legal identity; wallet onboarding and a production scanning experience remain work for a real pilot. The image is an actual repository-adjacent product recording, not a concept mockup.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Video — play the original embedded film. PowerPoint: use Slide Show mode, then click the video. The film is a product demonstration, not independently verified settlement evidence. The current capture code can substitute a fixed unrelated mainnet transaction and mark verification true without matching the memo. Do not narrate its Explorer success screen as proof that this particular loan or refund was written on chain. If time is short, show the issuance and return portions, then move to the proof explanation. Google Slides users must reinsert the MP4 from Drive after import.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Solana — 45 seconds. Solana adds an independently inspectable transaction record beyond the application database. The memo integration assembles PfandLoop:proof_of_identity:&lt;payer&gt;:&lt;cup&gt;:&lt;borrow or refund&gt;:&lt;loan&gt;. Its operator key signs; a member ID in the text does not prove the member signed. To establish a valid event, open the signature on the SAME cluster used by the RPC, check the transaction succeeded, inspect the Memo instruction and compare every event field and expected signer. A generic successful transaction is insufficient. This is event provenance, not legal identity, ownership of a physical cup, or proof of handover. Separately, the implemented payment adapter transfers test USDC on Devnet, compares the exact deposit message at finalized commitment, and refunds to the original payer. It uses a central treasury, not deployed escrow. Live transfer and matching cup-specific memo evidence are still pending. Current fallback and cluster-link mismatch must be resolved before a verified demonstration. Sources: server/solana-memo.ts; server/solana.ts; https://www.solana-program.com/docs/memo ; https://solana.com/docs/core/transactions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 30 seconds. Our next users are not an imagined nationwide network: they are two stands at one campus event. Reach them through the university entrepreneurship community and the event organizer. First observe their workflow, then run supervised tests without real-money deposits. Measure completed returns, staff time, refund failures and onboarding drop-off. Expand only if the workflow is useful. Event organizers and reuse networks are potential buyers for a later service fee; willingness to pay is not yet validated. There are no claimed partnerships or pilot agreements. The ask is an introduction to one organizer and two stands. Keep the cup in the loop.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blitzlive/SolanaChallange2026"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F8F7F2"/>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DBE7AC"/>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416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DBE7AC"/>
                </a:solidFill>
                <a:latin typeface="Segoe UI"/>
              </a:defRPr>
            </a:pPr>
            <a:r>
              <a:t>REUSABLE CONTAINERS · SHARED RECORDS · SIMPLE RETURNS</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DBE7AC"/>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DBE7AC"/>
                </a:solidFill>
                <a:latin typeface="Segoe UI"/>
              </a:defRPr>
            </a:pPr>
            <a:r>
              <a:t>01 / 07</a:t>
            </a:r>
          </a:p>
        </p:txBody>
      </p:sp>
      <p:sp>
        <p:nvSpPr>
          <p:cNvPr id="8" name="TextBox 7"/>
          <p:cNvSpPr txBox="1"/>
          <p:nvPr/>
        </p:nvSpPr>
        <p:spPr>
          <a:xfrm>
            <a:off x="548640" y="1691640"/>
            <a:ext cx="6766560" cy="1645920"/>
          </a:xfrm>
          <a:prstGeom prst="rect">
            <a:avLst/>
          </a:prstGeom>
          <a:noFill/>
        </p:spPr>
        <p:txBody>
          <a:bodyPr wrap="square" lIns="0" tIns="0" rIns="0" bIns="0">
            <a:spAutoFit/>
          </a:bodyPr>
          <a:lstStyle/>
          <a:p>
            <a:pPr>
              <a:spcAft>
                <a:spcPts val="500"/>
              </a:spcAft>
              <a:defRPr sz="4500" b="0">
                <a:solidFill>
                  <a:srgbClr val="F8F7F2"/>
                </a:solidFill>
                <a:latin typeface="Georgia"/>
              </a:defRPr>
            </a:pPr>
            <a:r>
              <a:t>One cup.</a:t>
            </a:r>
          </a:p>
          <a:p>
            <a:pPr>
              <a:spcAft>
                <a:spcPts val="500"/>
              </a:spcAft>
              <a:defRPr sz="4500" b="0">
                <a:solidFill>
                  <a:srgbClr val="F8F7F2"/>
                </a:solidFill>
                <a:latin typeface="Georgia"/>
              </a:defRPr>
            </a:pPr>
            <a:r>
              <a:t>A more useful loop.</a:t>
            </a:r>
          </a:p>
        </p:txBody>
      </p:sp>
      <p:sp>
        <p:nvSpPr>
          <p:cNvPr id="9" name="TextBox 8"/>
          <p:cNvSpPr txBox="1"/>
          <p:nvPr/>
        </p:nvSpPr>
        <p:spPr>
          <a:xfrm>
            <a:off x="594360" y="3657600"/>
            <a:ext cx="6217920" cy="1371600"/>
          </a:xfrm>
          <a:prstGeom prst="rect">
            <a:avLst/>
          </a:prstGeom>
          <a:noFill/>
        </p:spPr>
        <p:txBody>
          <a:bodyPr wrap="square" lIns="0" tIns="0" rIns="0" bIns="0">
            <a:spAutoFit/>
          </a:bodyPr>
          <a:lstStyle/>
          <a:p>
            <a:pPr>
              <a:spcAft>
                <a:spcPts val="500"/>
              </a:spcAft>
              <a:defRPr sz="2400" b="0">
                <a:solidFill>
                  <a:srgbClr val="F8F7F2"/>
                </a:solidFill>
                <a:latin typeface="Segoe UI"/>
              </a:defRPr>
            </a:pPr>
            <a:r>
              <a:t>Borrow at one stand.</a:t>
            </a:r>
          </a:p>
          <a:p>
            <a:pPr>
              <a:spcAft>
                <a:spcPts val="500"/>
              </a:spcAft>
              <a:defRPr sz="2400" b="0">
                <a:solidFill>
                  <a:srgbClr val="F8F7F2"/>
                </a:solidFill>
                <a:latin typeface="Segoe UI"/>
              </a:defRPr>
            </a:pPr>
            <a:r>
              <a:t>Return at another.</a:t>
            </a:r>
          </a:p>
          <a:p>
            <a:pPr>
              <a:spcAft>
                <a:spcPts val="500"/>
              </a:spcAft>
              <a:defRPr sz="2400" b="0">
                <a:solidFill>
                  <a:srgbClr val="F8F7F2"/>
                </a:solidFill>
                <a:latin typeface="Segoe UI"/>
              </a:defRPr>
            </a:pPr>
            <a:r>
              <a:t>Keep the deposit attached to you.</a:t>
            </a:r>
          </a:p>
        </p:txBody>
      </p:sp>
      <p:sp>
        <p:nvSpPr>
          <p:cNvPr id="10" name="Oval 9"/>
          <p:cNvSpPr/>
          <p:nvPr/>
        </p:nvSpPr>
        <p:spPr>
          <a:xfrm>
            <a:off x="7607808" y="1673352"/>
            <a:ext cx="3822191" cy="3822191"/>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up.png"/>
          <p:cNvPicPr>
            <a:picLocks noChangeAspect="1"/>
          </p:cNvPicPr>
          <p:nvPr/>
        </p:nvPicPr>
        <p:blipFill>
          <a:blip r:embed="rId3"/>
          <a:stretch>
            <a:fillRect/>
          </a:stretch>
        </p:blipFill>
        <p:spPr>
          <a:xfrm>
            <a:off x="8257031" y="2029968"/>
            <a:ext cx="2471195" cy="3200400"/>
          </a:xfrm>
          <a:prstGeom prst="rect">
            <a:avLst/>
          </a:prstGeom>
        </p:spPr>
      </p:pic>
      <p:sp>
        <p:nvSpPr>
          <p:cNvPr id="12" name="TextBox 11"/>
          <p:cNvSpPr txBox="1"/>
          <p:nvPr/>
        </p:nvSpPr>
        <p:spPr>
          <a:xfrm>
            <a:off x="594360" y="5577840"/>
            <a:ext cx="7315200" cy="640080"/>
          </a:xfrm>
          <a:prstGeom prst="rect">
            <a:avLst/>
          </a:prstGeom>
          <a:noFill/>
        </p:spPr>
        <p:txBody>
          <a:bodyPr wrap="square" lIns="0" tIns="0" rIns="0" bIns="0">
            <a:spAutoFit/>
          </a:bodyPr>
          <a:lstStyle/>
          <a:p>
            <a:pPr>
              <a:spcAft>
                <a:spcPts val="500"/>
              </a:spcAft>
              <a:defRPr sz="1700" b="0">
                <a:solidFill>
                  <a:srgbClr val="DBE7AC"/>
                </a:solidFill>
                <a:latin typeface="Segoe UI"/>
              </a:defRPr>
            </a:pPr>
            <a:r>
              <a:t>A reusable-container MVP</a:t>
            </a:r>
          </a:p>
          <a:p>
            <a:pPr>
              <a:spcAft>
                <a:spcPts val="500"/>
              </a:spcAft>
              <a:defRPr sz="1700" b="0">
                <a:solidFill>
                  <a:srgbClr val="DBE7AC"/>
                </a:solidFill>
                <a:latin typeface="Segoe UI"/>
              </a:defRPr>
            </a:pPr>
            <a:r>
              <a:t>for campus events, cafés and festivals.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173F35"/>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DD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01 / A CLEAR PROBLEM · WHO NEEDS THIS?</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657269"/>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02 / 07</a:t>
            </a:r>
          </a:p>
        </p:txBody>
      </p:sp>
      <p:sp>
        <p:nvSpPr>
          <p:cNvPr id="8" name="TextBox 7"/>
          <p:cNvSpPr txBox="1"/>
          <p:nvPr/>
        </p:nvSpPr>
        <p:spPr>
          <a:xfrm>
            <a:off x="548640" y="1490472"/>
            <a:ext cx="10881360" cy="1143000"/>
          </a:xfrm>
          <a:prstGeom prst="rect">
            <a:avLst/>
          </a:prstGeom>
          <a:noFill/>
        </p:spPr>
        <p:txBody>
          <a:bodyPr wrap="square" lIns="0" tIns="0" rIns="0" bIns="0">
            <a:spAutoFit/>
          </a:bodyPr>
          <a:lstStyle/>
          <a:p>
            <a:pPr>
              <a:spcAft>
                <a:spcPts val="500"/>
              </a:spcAft>
              <a:defRPr sz="3500" b="0">
                <a:solidFill>
                  <a:srgbClr val="203D32"/>
                </a:solidFill>
                <a:latin typeface="Georgia"/>
              </a:defRPr>
            </a:pPr>
            <a:r>
              <a:t>The cup changes hands.</a:t>
            </a:r>
          </a:p>
          <a:p>
            <a:pPr>
              <a:spcAft>
                <a:spcPts val="500"/>
              </a:spcAft>
              <a:defRPr sz="3500" b="0">
                <a:solidFill>
                  <a:srgbClr val="203D32"/>
                </a:solidFill>
                <a:latin typeface="Georgia"/>
              </a:defRPr>
            </a:pPr>
            <a:r>
              <a:t>Who gets the deposit back?</a:t>
            </a:r>
          </a:p>
        </p:txBody>
      </p:sp>
      <p:sp>
        <p:nvSpPr>
          <p:cNvPr id="9" name="TextBox 8"/>
          <p:cNvSpPr txBox="1"/>
          <p:nvPr/>
        </p:nvSpPr>
        <p:spPr>
          <a:xfrm>
            <a:off x="585216" y="2770632"/>
            <a:ext cx="10881360" cy="457200"/>
          </a:xfrm>
          <a:prstGeom prst="rect">
            <a:avLst/>
          </a:prstGeom>
          <a:noFill/>
        </p:spPr>
        <p:txBody>
          <a:bodyPr wrap="square" lIns="0" tIns="0" rIns="0" bIns="0">
            <a:spAutoFit/>
          </a:bodyPr>
          <a:lstStyle/>
          <a:p>
            <a:pPr>
              <a:spcAft>
                <a:spcPts val="500"/>
              </a:spcAft>
              <a:defRPr sz="2100" b="0">
                <a:solidFill>
                  <a:srgbClr val="657269"/>
                </a:solidFill>
                <a:latin typeface="Segoe UI"/>
              </a:defRPr>
            </a:pPr>
            <a:r>
              <a:t>At events with several stands, a return needs a shared answer.</a:t>
            </a:r>
          </a:p>
        </p:txBody>
      </p:sp>
      <p:sp>
        <p:nvSpPr>
          <p:cNvPr id="10" name="Oval 9"/>
          <p:cNvSpPr/>
          <p:nvPr/>
        </p:nvSpPr>
        <p:spPr>
          <a:xfrm>
            <a:off x="594360" y="3547872"/>
            <a:ext cx="384048" cy="384048"/>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 y="3657360"/>
            <a:ext cx="292608" cy="169277"/>
          </a:xfrm>
          <a:prstGeom prst="rect">
            <a:avLst/>
          </a:prstGeom>
          <a:noFill/>
        </p:spPr>
        <p:txBody>
          <a:bodyPr wrap="square" lIns="0" tIns="0" rIns="0" bIns="0">
            <a:spAutoFit/>
          </a:bodyPr>
          <a:lstStyle/>
          <a:p>
            <a:pPr algn="ctr">
              <a:spcAft>
                <a:spcPts val="500"/>
              </a:spcAft>
              <a:defRPr sz="1100" b="1">
                <a:solidFill>
                  <a:srgbClr val="203D32"/>
                </a:solidFill>
                <a:latin typeface="Segoe UI"/>
              </a:defRPr>
            </a:pPr>
            <a:r>
              <a:t>01</a:t>
            </a:r>
          </a:p>
        </p:txBody>
      </p:sp>
      <p:sp>
        <p:nvSpPr>
          <p:cNvPr id="12" name="TextBox 11"/>
          <p:cNvSpPr txBox="1"/>
          <p:nvPr/>
        </p:nvSpPr>
        <p:spPr>
          <a:xfrm>
            <a:off x="594360" y="4160520"/>
            <a:ext cx="333756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THE CUSTOMER</a:t>
            </a:r>
          </a:p>
        </p:txBody>
      </p:sp>
      <p:sp>
        <p:nvSpPr>
          <p:cNvPr id="13" name="TextBox 12"/>
          <p:cNvSpPr txBox="1"/>
          <p:nvPr/>
        </p:nvSpPr>
        <p:spPr>
          <a:xfrm>
            <a:off x="594360" y="4590288"/>
            <a:ext cx="3337560" cy="640080"/>
          </a:xfrm>
          <a:prstGeom prst="rect">
            <a:avLst/>
          </a:prstGeom>
          <a:noFill/>
        </p:spPr>
        <p:txBody>
          <a:bodyPr wrap="square" lIns="0" tIns="0" rIns="0" bIns="0">
            <a:spAutoFit/>
          </a:bodyPr>
          <a:lstStyle/>
          <a:p>
            <a:pPr>
              <a:spcAft>
                <a:spcPts val="500"/>
              </a:spcAft>
              <a:defRPr sz="2200" b="0">
                <a:solidFill>
                  <a:srgbClr val="173F35"/>
                </a:solidFill>
                <a:latin typeface="Georgia"/>
              </a:defRPr>
            </a:pPr>
            <a:r>
              <a:t>“Can I return it here?”</a:t>
            </a:r>
          </a:p>
        </p:txBody>
      </p:sp>
      <p:sp>
        <p:nvSpPr>
          <p:cNvPr id="14" name="TextBox 13"/>
          <p:cNvSpPr txBox="1"/>
          <p:nvPr/>
        </p:nvSpPr>
        <p:spPr>
          <a:xfrm>
            <a:off x="594360" y="5340096"/>
            <a:ext cx="3291840" cy="758952"/>
          </a:xfrm>
          <a:prstGeom prst="rect">
            <a:avLst/>
          </a:prstGeom>
          <a:noFill/>
        </p:spPr>
        <p:txBody>
          <a:bodyPr wrap="square" lIns="0" tIns="0" rIns="0" bIns="0">
            <a:spAutoFit/>
          </a:bodyPr>
          <a:lstStyle/>
          <a:p>
            <a:pPr>
              <a:spcAft>
                <a:spcPts val="500"/>
              </a:spcAft>
              <a:defRPr sz="1700" b="0">
                <a:solidFill>
                  <a:srgbClr val="203D32"/>
                </a:solidFill>
                <a:latin typeface="Segoe UI"/>
              </a:defRPr>
            </a:pPr>
            <a:r>
              <a:t>Needs a clear return point and a visible deposit balance.</a:t>
            </a:r>
          </a:p>
        </p:txBody>
      </p:sp>
      <p:sp>
        <p:nvSpPr>
          <p:cNvPr id="15" name="Oval 14"/>
          <p:cNvSpPr/>
          <p:nvPr/>
        </p:nvSpPr>
        <p:spPr>
          <a:xfrm>
            <a:off x="4434840" y="3547872"/>
            <a:ext cx="384048" cy="384048"/>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9703" y="3657360"/>
            <a:ext cx="292608" cy="169277"/>
          </a:xfrm>
          <a:prstGeom prst="rect">
            <a:avLst/>
          </a:prstGeom>
          <a:noFill/>
        </p:spPr>
        <p:txBody>
          <a:bodyPr wrap="square" lIns="0" tIns="0" rIns="0" bIns="0">
            <a:spAutoFit/>
          </a:bodyPr>
          <a:lstStyle/>
          <a:p>
            <a:pPr algn="ctr">
              <a:spcAft>
                <a:spcPts val="500"/>
              </a:spcAft>
              <a:defRPr sz="1100" b="1">
                <a:solidFill>
                  <a:srgbClr val="203D32"/>
                </a:solidFill>
                <a:latin typeface="Segoe UI"/>
              </a:defRPr>
            </a:pPr>
            <a:r>
              <a:t>02</a:t>
            </a:r>
          </a:p>
        </p:txBody>
      </p:sp>
      <p:sp>
        <p:nvSpPr>
          <p:cNvPr id="17" name="TextBox 16"/>
          <p:cNvSpPr txBox="1"/>
          <p:nvPr/>
        </p:nvSpPr>
        <p:spPr>
          <a:xfrm>
            <a:off x="4434840" y="4160520"/>
            <a:ext cx="333756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THE STAFF</a:t>
            </a:r>
          </a:p>
        </p:txBody>
      </p:sp>
      <p:sp>
        <p:nvSpPr>
          <p:cNvPr id="18" name="TextBox 17"/>
          <p:cNvSpPr txBox="1"/>
          <p:nvPr/>
        </p:nvSpPr>
        <p:spPr>
          <a:xfrm>
            <a:off x="4434840" y="4590288"/>
            <a:ext cx="3337560" cy="640080"/>
          </a:xfrm>
          <a:prstGeom prst="rect">
            <a:avLst/>
          </a:prstGeom>
          <a:noFill/>
        </p:spPr>
        <p:txBody>
          <a:bodyPr wrap="square" lIns="0" tIns="0" rIns="0" bIns="0">
            <a:spAutoFit/>
          </a:bodyPr>
          <a:lstStyle/>
          <a:p>
            <a:pPr>
              <a:spcAft>
                <a:spcPts val="500"/>
              </a:spcAft>
              <a:defRPr sz="2200" b="0">
                <a:solidFill>
                  <a:srgbClr val="173F35"/>
                </a:solidFill>
                <a:latin typeface="Georgia"/>
              </a:defRPr>
            </a:pPr>
            <a:r>
              <a:t>“Which deposit do I release?”</a:t>
            </a:r>
          </a:p>
        </p:txBody>
      </p:sp>
      <p:sp>
        <p:nvSpPr>
          <p:cNvPr id="19" name="TextBox 18"/>
          <p:cNvSpPr txBox="1"/>
          <p:nvPr/>
        </p:nvSpPr>
        <p:spPr>
          <a:xfrm>
            <a:off x="4434840" y="5340096"/>
            <a:ext cx="3291840" cy="758952"/>
          </a:xfrm>
          <a:prstGeom prst="rect">
            <a:avLst/>
          </a:prstGeom>
          <a:noFill/>
        </p:spPr>
        <p:txBody>
          <a:bodyPr wrap="square" lIns="0" tIns="0" rIns="0" bIns="0">
            <a:spAutoFit/>
          </a:bodyPr>
          <a:lstStyle/>
          <a:p>
            <a:pPr>
              <a:spcAft>
                <a:spcPts val="500"/>
              </a:spcAft>
              <a:defRPr sz="1700" b="0">
                <a:solidFill>
                  <a:srgbClr val="203D32"/>
                </a:solidFill>
                <a:latin typeface="Segoe UI"/>
              </a:defRPr>
            </a:pPr>
            <a:r>
              <a:t>Needs the container, original payer and return status.</a:t>
            </a:r>
          </a:p>
        </p:txBody>
      </p:sp>
      <p:sp>
        <p:nvSpPr>
          <p:cNvPr id="20" name="Oval 19"/>
          <p:cNvSpPr/>
          <p:nvPr/>
        </p:nvSpPr>
        <p:spPr>
          <a:xfrm>
            <a:off x="8275320" y="3547872"/>
            <a:ext cx="384048" cy="384048"/>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0184" y="3657360"/>
            <a:ext cx="292608" cy="169277"/>
          </a:xfrm>
          <a:prstGeom prst="rect">
            <a:avLst/>
          </a:prstGeom>
          <a:noFill/>
        </p:spPr>
        <p:txBody>
          <a:bodyPr wrap="square" lIns="0" tIns="0" rIns="0" bIns="0">
            <a:spAutoFit/>
          </a:bodyPr>
          <a:lstStyle/>
          <a:p>
            <a:pPr algn="ctr">
              <a:spcAft>
                <a:spcPts val="500"/>
              </a:spcAft>
              <a:defRPr sz="1100" b="1">
                <a:solidFill>
                  <a:srgbClr val="203D32"/>
                </a:solidFill>
                <a:latin typeface="Segoe UI"/>
              </a:defRPr>
            </a:pPr>
            <a:r>
              <a:t>03</a:t>
            </a:r>
          </a:p>
        </p:txBody>
      </p:sp>
      <p:sp>
        <p:nvSpPr>
          <p:cNvPr id="22" name="TextBox 21"/>
          <p:cNvSpPr txBox="1"/>
          <p:nvPr/>
        </p:nvSpPr>
        <p:spPr>
          <a:xfrm>
            <a:off x="8275320" y="4160520"/>
            <a:ext cx="333756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THE ORGANIZER</a:t>
            </a:r>
          </a:p>
        </p:txBody>
      </p:sp>
      <p:sp>
        <p:nvSpPr>
          <p:cNvPr id="23" name="TextBox 22"/>
          <p:cNvSpPr txBox="1"/>
          <p:nvPr/>
        </p:nvSpPr>
        <p:spPr>
          <a:xfrm>
            <a:off x="8275320" y="4590288"/>
            <a:ext cx="3337560" cy="640080"/>
          </a:xfrm>
          <a:prstGeom prst="rect">
            <a:avLst/>
          </a:prstGeom>
          <a:noFill/>
        </p:spPr>
        <p:txBody>
          <a:bodyPr wrap="square" lIns="0" tIns="0" rIns="0" bIns="0">
            <a:spAutoFit/>
          </a:bodyPr>
          <a:lstStyle/>
          <a:p>
            <a:pPr>
              <a:spcAft>
                <a:spcPts val="500"/>
              </a:spcAft>
              <a:defRPr sz="2200" b="0">
                <a:solidFill>
                  <a:srgbClr val="173F35"/>
                </a:solidFill>
                <a:latin typeface="Georgia"/>
              </a:defRPr>
            </a:pPr>
            <a:r>
              <a:t>“Does the loop close?”</a:t>
            </a:r>
          </a:p>
        </p:txBody>
      </p:sp>
      <p:sp>
        <p:nvSpPr>
          <p:cNvPr id="24" name="TextBox 23"/>
          <p:cNvSpPr txBox="1"/>
          <p:nvPr/>
        </p:nvSpPr>
        <p:spPr>
          <a:xfrm>
            <a:off x="8275320" y="5340096"/>
            <a:ext cx="3291840" cy="758952"/>
          </a:xfrm>
          <a:prstGeom prst="rect">
            <a:avLst/>
          </a:prstGeom>
          <a:noFill/>
        </p:spPr>
        <p:txBody>
          <a:bodyPr wrap="square" lIns="0" tIns="0" rIns="0" bIns="0">
            <a:spAutoFit/>
          </a:bodyPr>
          <a:lstStyle/>
          <a:p>
            <a:pPr>
              <a:spcAft>
                <a:spcPts val="500"/>
              </a:spcAft>
              <a:defRPr sz="1700" b="0">
                <a:solidFill>
                  <a:srgbClr val="203D32"/>
                </a:solidFill>
                <a:latin typeface="Segoe UI"/>
              </a:defRPr>
            </a:pPr>
            <a:r>
              <a:t>Needs a traceable history across participating stands.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173F35"/>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DD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02 / THE SOLUTION · ONE FAMILIAR JOURNEY</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657269"/>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03 / 07</a:t>
            </a:r>
          </a:p>
        </p:txBody>
      </p:sp>
      <p:sp>
        <p:nvSpPr>
          <p:cNvPr id="8" name="TextBox 7"/>
          <p:cNvSpPr txBox="1"/>
          <p:nvPr/>
        </p:nvSpPr>
        <p:spPr>
          <a:xfrm>
            <a:off x="548640" y="1490472"/>
            <a:ext cx="10881360" cy="1143000"/>
          </a:xfrm>
          <a:prstGeom prst="rect">
            <a:avLst/>
          </a:prstGeom>
          <a:noFill/>
        </p:spPr>
        <p:txBody>
          <a:bodyPr wrap="square" lIns="0" tIns="0" rIns="0" bIns="0">
            <a:spAutoFit/>
          </a:bodyPr>
          <a:lstStyle/>
          <a:p>
            <a:pPr>
              <a:spcAft>
                <a:spcPts val="500"/>
              </a:spcAft>
              <a:defRPr sz="3500" b="0">
                <a:solidFill>
                  <a:srgbClr val="203D32"/>
                </a:solidFill>
                <a:latin typeface="Georgia"/>
              </a:defRPr>
            </a:pPr>
            <a:r>
              <a:t>Borrow here. Return there.</a:t>
            </a:r>
          </a:p>
          <a:p>
            <a:pPr>
              <a:spcAft>
                <a:spcPts val="500"/>
              </a:spcAft>
              <a:defRPr sz="3500" b="0">
                <a:solidFill>
                  <a:srgbClr val="203D32"/>
                </a:solidFill>
                <a:latin typeface="Georgia"/>
              </a:defRPr>
            </a:pPr>
            <a:r>
              <a:t>Close the loop.</a:t>
            </a:r>
          </a:p>
        </p:txBody>
      </p:sp>
      <p:sp>
        <p:nvSpPr>
          <p:cNvPr id="9" name="Oval 8"/>
          <p:cNvSpPr/>
          <p:nvPr/>
        </p:nvSpPr>
        <p:spPr>
          <a:xfrm>
            <a:off x="603504" y="3127248"/>
            <a:ext cx="594360" cy="594360"/>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9192" y="3251936"/>
            <a:ext cx="274320" cy="338554"/>
          </a:xfrm>
          <a:prstGeom prst="rect">
            <a:avLst/>
          </a:prstGeom>
          <a:noFill/>
        </p:spPr>
        <p:txBody>
          <a:bodyPr wrap="square" lIns="0" tIns="0" rIns="0" bIns="0">
            <a:spAutoFit/>
          </a:bodyPr>
          <a:lstStyle/>
          <a:p>
            <a:pPr algn="ctr">
              <a:spcAft>
                <a:spcPts val="500"/>
              </a:spcAft>
              <a:defRPr sz="2200" b="0">
                <a:solidFill>
                  <a:srgbClr val="173F35"/>
                </a:solidFill>
                <a:latin typeface="Segoe UI"/>
              </a:defRPr>
            </a:pPr>
            <a:r>
              <a:t>1</a:t>
            </a:r>
          </a:p>
        </p:txBody>
      </p:sp>
      <p:sp>
        <p:nvSpPr>
          <p:cNvPr id="11" name="TextBox 10"/>
          <p:cNvSpPr txBox="1"/>
          <p:nvPr/>
        </p:nvSpPr>
        <p:spPr>
          <a:xfrm>
            <a:off x="3163824" y="3081528"/>
            <a:ext cx="914400" cy="640080"/>
          </a:xfrm>
          <a:prstGeom prst="rect">
            <a:avLst/>
          </a:prstGeom>
          <a:noFill/>
        </p:spPr>
        <p:txBody>
          <a:bodyPr wrap="square" lIns="0" tIns="0" rIns="0" bIns="0">
            <a:spAutoFit/>
          </a:bodyPr>
          <a:lstStyle/>
          <a:p>
            <a:pPr>
              <a:spcAft>
                <a:spcPts val="500"/>
              </a:spcAft>
              <a:defRPr sz="3500" b="0">
                <a:solidFill>
                  <a:srgbClr val="657269"/>
                </a:solidFill>
                <a:latin typeface="Segoe UI"/>
              </a:defRPr>
            </a:pPr>
            <a:r>
              <a:t>→</a:t>
            </a:r>
          </a:p>
        </p:txBody>
      </p:sp>
      <p:sp>
        <p:nvSpPr>
          <p:cNvPr id="12" name="TextBox 11"/>
          <p:cNvSpPr txBox="1"/>
          <p:nvPr/>
        </p:nvSpPr>
        <p:spPr>
          <a:xfrm>
            <a:off x="603504" y="4014215"/>
            <a:ext cx="3474720" cy="256032"/>
          </a:xfrm>
          <a:prstGeom prst="rect">
            <a:avLst/>
          </a:prstGeom>
          <a:noFill/>
        </p:spPr>
        <p:txBody>
          <a:bodyPr wrap="square" lIns="0" tIns="0" rIns="0" bIns="0">
            <a:spAutoFit/>
          </a:bodyPr>
          <a:lstStyle/>
          <a:p>
            <a:pPr>
              <a:spcAft>
                <a:spcPts val="500"/>
              </a:spcAft>
              <a:defRPr sz="1100" b="1">
                <a:solidFill>
                  <a:srgbClr val="657269"/>
                </a:solidFill>
                <a:latin typeface="Segoe UI"/>
              </a:defRPr>
            </a:pPr>
            <a:r>
              <a:t>BORROW</a:t>
            </a:r>
          </a:p>
        </p:txBody>
      </p:sp>
      <p:sp>
        <p:nvSpPr>
          <p:cNvPr id="13" name="TextBox 12"/>
          <p:cNvSpPr txBox="1"/>
          <p:nvPr/>
        </p:nvSpPr>
        <p:spPr>
          <a:xfrm>
            <a:off x="603504" y="4480560"/>
            <a:ext cx="3383280" cy="548640"/>
          </a:xfrm>
          <a:prstGeom prst="rect">
            <a:avLst/>
          </a:prstGeom>
          <a:noFill/>
        </p:spPr>
        <p:txBody>
          <a:bodyPr wrap="square" lIns="0" tIns="0" rIns="0" bIns="0">
            <a:spAutoFit/>
          </a:bodyPr>
          <a:lstStyle/>
          <a:p>
            <a:pPr>
              <a:spcAft>
                <a:spcPts val="500"/>
              </a:spcAft>
              <a:defRPr sz="2300" b="0">
                <a:solidFill>
                  <a:srgbClr val="173F35"/>
                </a:solidFill>
                <a:latin typeface="Georgia"/>
              </a:defRPr>
            </a:pPr>
            <a:r>
              <a:t>Stand A issues a cup</a:t>
            </a:r>
          </a:p>
        </p:txBody>
      </p:sp>
      <p:sp>
        <p:nvSpPr>
          <p:cNvPr id="14" name="TextBox 13"/>
          <p:cNvSpPr txBox="1"/>
          <p:nvPr/>
        </p:nvSpPr>
        <p:spPr>
          <a:xfrm>
            <a:off x="603504" y="5157216"/>
            <a:ext cx="3291840" cy="731520"/>
          </a:xfrm>
          <a:prstGeom prst="rect">
            <a:avLst/>
          </a:prstGeom>
          <a:noFill/>
        </p:spPr>
        <p:txBody>
          <a:bodyPr wrap="square" lIns="0" tIns="0" rIns="0" bIns="0">
            <a:spAutoFit/>
          </a:bodyPr>
          <a:lstStyle/>
          <a:p>
            <a:pPr>
              <a:spcAft>
                <a:spcPts val="500"/>
              </a:spcAft>
              <a:defRPr sz="1800" b="0">
                <a:solidFill>
                  <a:srgbClr val="203D32"/>
                </a:solidFill>
                <a:latin typeface="Segoe UI"/>
              </a:defRPr>
            </a:pPr>
            <a:r>
              <a:t>Member ID + container serial</a:t>
            </a:r>
          </a:p>
          <a:p>
            <a:pPr>
              <a:spcAft>
                <a:spcPts val="500"/>
              </a:spcAft>
              <a:defRPr sz="1800" b="0">
                <a:solidFill>
                  <a:srgbClr val="203D32"/>
                </a:solidFill>
                <a:latin typeface="Segoe UI"/>
              </a:defRPr>
            </a:pPr>
            <a:r>
              <a:t>Deposit assigned to the loan</a:t>
            </a:r>
          </a:p>
        </p:txBody>
      </p:sp>
      <p:sp>
        <p:nvSpPr>
          <p:cNvPr id="15" name="Oval 14"/>
          <p:cNvSpPr/>
          <p:nvPr/>
        </p:nvSpPr>
        <p:spPr>
          <a:xfrm>
            <a:off x="4425696" y="3127248"/>
            <a:ext cx="594360" cy="594360"/>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81384" y="3251936"/>
            <a:ext cx="274320" cy="338554"/>
          </a:xfrm>
          <a:prstGeom prst="rect">
            <a:avLst/>
          </a:prstGeom>
          <a:noFill/>
        </p:spPr>
        <p:txBody>
          <a:bodyPr wrap="square" lIns="0" tIns="0" rIns="0" bIns="0">
            <a:spAutoFit/>
          </a:bodyPr>
          <a:lstStyle/>
          <a:p>
            <a:pPr algn="ctr">
              <a:spcAft>
                <a:spcPts val="500"/>
              </a:spcAft>
              <a:defRPr sz="2200" b="0">
                <a:solidFill>
                  <a:srgbClr val="173F35"/>
                </a:solidFill>
                <a:latin typeface="Segoe UI"/>
              </a:defRPr>
            </a:pPr>
            <a:r>
              <a:t>2</a:t>
            </a:r>
          </a:p>
        </p:txBody>
      </p:sp>
      <p:sp>
        <p:nvSpPr>
          <p:cNvPr id="17" name="TextBox 16"/>
          <p:cNvSpPr txBox="1"/>
          <p:nvPr/>
        </p:nvSpPr>
        <p:spPr>
          <a:xfrm>
            <a:off x="6986016" y="3081528"/>
            <a:ext cx="914400" cy="640080"/>
          </a:xfrm>
          <a:prstGeom prst="rect">
            <a:avLst/>
          </a:prstGeom>
          <a:noFill/>
        </p:spPr>
        <p:txBody>
          <a:bodyPr wrap="square" lIns="0" tIns="0" rIns="0" bIns="0">
            <a:spAutoFit/>
          </a:bodyPr>
          <a:lstStyle/>
          <a:p>
            <a:pPr>
              <a:spcAft>
                <a:spcPts val="500"/>
              </a:spcAft>
              <a:defRPr sz="3500" b="0">
                <a:solidFill>
                  <a:srgbClr val="657269"/>
                </a:solidFill>
                <a:latin typeface="Segoe UI"/>
              </a:defRPr>
            </a:pPr>
            <a:r>
              <a:t>→</a:t>
            </a:r>
          </a:p>
        </p:txBody>
      </p:sp>
      <p:sp>
        <p:nvSpPr>
          <p:cNvPr id="18" name="TextBox 17"/>
          <p:cNvSpPr txBox="1"/>
          <p:nvPr/>
        </p:nvSpPr>
        <p:spPr>
          <a:xfrm>
            <a:off x="4425696" y="4014215"/>
            <a:ext cx="3474720" cy="256032"/>
          </a:xfrm>
          <a:prstGeom prst="rect">
            <a:avLst/>
          </a:prstGeom>
          <a:noFill/>
        </p:spPr>
        <p:txBody>
          <a:bodyPr wrap="square" lIns="0" tIns="0" rIns="0" bIns="0">
            <a:spAutoFit/>
          </a:bodyPr>
          <a:lstStyle/>
          <a:p>
            <a:pPr>
              <a:spcAft>
                <a:spcPts val="500"/>
              </a:spcAft>
              <a:defRPr sz="1100" b="1">
                <a:solidFill>
                  <a:srgbClr val="657269"/>
                </a:solidFill>
                <a:latin typeface="Segoe UI"/>
              </a:defRPr>
            </a:pPr>
            <a:r>
              <a:t>RETURN</a:t>
            </a:r>
          </a:p>
        </p:txBody>
      </p:sp>
      <p:sp>
        <p:nvSpPr>
          <p:cNvPr id="19" name="TextBox 18"/>
          <p:cNvSpPr txBox="1"/>
          <p:nvPr/>
        </p:nvSpPr>
        <p:spPr>
          <a:xfrm>
            <a:off x="4425696" y="4480560"/>
            <a:ext cx="3383280" cy="548640"/>
          </a:xfrm>
          <a:prstGeom prst="rect">
            <a:avLst/>
          </a:prstGeom>
          <a:noFill/>
        </p:spPr>
        <p:txBody>
          <a:bodyPr wrap="square" lIns="0" tIns="0" rIns="0" bIns="0">
            <a:spAutoFit/>
          </a:bodyPr>
          <a:lstStyle/>
          <a:p>
            <a:pPr>
              <a:spcAft>
                <a:spcPts val="500"/>
              </a:spcAft>
              <a:defRPr sz="2300" b="0">
                <a:solidFill>
                  <a:srgbClr val="173F35"/>
                </a:solidFill>
                <a:latin typeface="Georgia"/>
              </a:defRPr>
            </a:pPr>
            <a:r>
              <a:t>Stand B receives it</a:t>
            </a:r>
          </a:p>
        </p:txBody>
      </p:sp>
      <p:sp>
        <p:nvSpPr>
          <p:cNvPr id="20" name="TextBox 19"/>
          <p:cNvSpPr txBox="1"/>
          <p:nvPr/>
        </p:nvSpPr>
        <p:spPr>
          <a:xfrm>
            <a:off x="4425696" y="5157216"/>
            <a:ext cx="3291840" cy="731520"/>
          </a:xfrm>
          <a:prstGeom prst="rect">
            <a:avLst/>
          </a:prstGeom>
          <a:noFill/>
        </p:spPr>
        <p:txBody>
          <a:bodyPr wrap="square" lIns="0" tIns="0" rIns="0" bIns="0">
            <a:spAutoFit/>
          </a:bodyPr>
          <a:lstStyle/>
          <a:p>
            <a:pPr>
              <a:spcAft>
                <a:spcPts val="500"/>
              </a:spcAft>
              <a:defRPr sz="1800" b="0">
                <a:solidFill>
                  <a:srgbClr val="203D32"/>
                </a:solidFill>
                <a:latin typeface="Segoe UI"/>
              </a:defRPr>
            </a:pPr>
            <a:r>
              <a:t>Staff identify the container</a:t>
            </a:r>
          </a:p>
          <a:p>
            <a:pPr>
              <a:spcAft>
                <a:spcPts val="500"/>
              </a:spcAft>
              <a:defRPr sz="1800" b="0">
                <a:solidFill>
                  <a:srgbClr val="203D32"/>
                </a:solidFill>
                <a:latin typeface="Segoe UI"/>
              </a:defRPr>
            </a:pPr>
            <a:r>
              <a:t>and confirm physical receipt</a:t>
            </a:r>
          </a:p>
        </p:txBody>
      </p:sp>
      <p:sp>
        <p:nvSpPr>
          <p:cNvPr id="21" name="Oval 20"/>
          <p:cNvSpPr/>
          <p:nvPr/>
        </p:nvSpPr>
        <p:spPr>
          <a:xfrm>
            <a:off x="8247888" y="3127248"/>
            <a:ext cx="594360" cy="594360"/>
          </a:xfrm>
          <a:prstGeom prst="ellipse">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03576" y="3251936"/>
            <a:ext cx="274320" cy="338554"/>
          </a:xfrm>
          <a:prstGeom prst="rect">
            <a:avLst/>
          </a:prstGeom>
          <a:noFill/>
        </p:spPr>
        <p:txBody>
          <a:bodyPr wrap="square" lIns="0" tIns="0" rIns="0" bIns="0">
            <a:spAutoFit/>
          </a:bodyPr>
          <a:lstStyle/>
          <a:p>
            <a:pPr algn="ctr">
              <a:spcAft>
                <a:spcPts val="500"/>
              </a:spcAft>
              <a:defRPr sz="2200" b="0">
                <a:solidFill>
                  <a:srgbClr val="173F35"/>
                </a:solidFill>
                <a:latin typeface="Segoe UI"/>
              </a:defRPr>
            </a:pPr>
            <a:r>
              <a:t>3</a:t>
            </a:r>
          </a:p>
        </p:txBody>
      </p:sp>
      <p:sp>
        <p:nvSpPr>
          <p:cNvPr id="23" name="TextBox 22"/>
          <p:cNvSpPr txBox="1"/>
          <p:nvPr/>
        </p:nvSpPr>
        <p:spPr>
          <a:xfrm>
            <a:off x="8247888" y="4014215"/>
            <a:ext cx="3474720" cy="256032"/>
          </a:xfrm>
          <a:prstGeom prst="rect">
            <a:avLst/>
          </a:prstGeom>
          <a:noFill/>
        </p:spPr>
        <p:txBody>
          <a:bodyPr wrap="square" lIns="0" tIns="0" rIns="0" bIns="0">
            <a:spAutoFit/>
          </a:bodyPr>
          <a:lstStyle/>
          <a:p>
            <a:pPr>
              <a:spcAft>
                <a:spcPts val="500"/>
              </a:spcAft>
              <a:defRPr sz="1100" b="1">
                <a:solidFill>
                  <a:srgbClr val="657269"/>
                </a:solidFill>
                <a:latin typeface="Segoe UI"/>
              </a:defRPr>
            </a:pPr>
            <a:r>
              <a:t>REFUND</a:t>
            </a:r>
          </a:p>
        </p:txBody>
      </p:sp>
      <p:sp>
        <p:nvSpPr>
          <p:cNvPr id="24" name="TextBox 23"/>
          <p:cNvSpPr txBox="1"/>
          <p:nvPr/>
        </p:nvSpPr>
        <p:spPr>
          <a:xfrm>
            <a:off x="8247888" y="4480560"/>
            <a:ext cx="3383280" cy="548640"/>
          </a:xfrm>
          <a:prstGeom prst="rect">
            <a:avLst/>
          </a:prstGeom>
          <a:noFill/>
        </p:spPr>
        <p:txBody>
          <a:bodyPr wrap="square" lIns="0" tIns="0" rIns="0" bIns="0">
            <a:spAutoFit/>
          </a:bodyPr>
          <a:lstStyle/>
          <a:p>
            <a:pPr>
              <a:spcAft>
                <a:spcPts val="500"/>
              </a:spcAft>
              <a:defRPr sz="2300" b="0">
                <a:solidFill>
                  <a:srgbClr val="173F35"/>
                </a:solidFill>
                <a:latin typeface="Georgia"/>
              </a:defRPr>
            </a:pPr>
            <a:r>
              <a:t>Back to the original payer</a:t>
            </a:r>
          </a:p>
        </p:txBody>
      </p:sp>
      <p:sp>
        <p:nvSpPr>
          <p:cNvPr id="25" name="TextBox 24"/>
          <p:cNvSpPr txBox="1"/>
          <p:nvPr/>
        </p:nvSpPr>
        <p:spPr>
          <a:xfrm>
            <a:off x="8247888" y="5157216"/>
            <a:ext cx="3291840" cy="731520"/>
          </a:xfrm>
          <a:prstGeom prst="rect">
            <a:avLst/>
          </a:prstGeom>
          <a:noFill/>
        </p:spPr>
        <p:txBody>
          <a:bodyPr wrap="square" lIns="0" tIns="0" rIns="0" bIns="0">
            <a:spAutoFit/>
          </a:bodyPr>
          <a:lstStyle/>
          <a:p>
            <a:pPr>
              <a:spcAft>
                <a:spcPts val="500"/>
              </a:spcAft>
              <a:defRPr sz="1800" b="0">
                <a:solidFill>
                  <a:srgbClr val="203D32"/>
                </a:solidFill>
                <a:latin typeface="Segoe UI"/>
              </a:defRPr>
            </a:pPr>
            <a:r>
              <a:t>Deposit released</a:t>
            </a:r>
          </a:p>
          <a:p>
            <a:pPr>
              <a:spcAft>
                <a:spcPts val="500"/>
              </a:spcAft>
              <a:defRPr sz="1800" b="0">
                <a:solidFill>
                  <a:srgbClr val="203D32"/>
                </a:solidFill>
                <a:latin typeface="Segoe UI"/>
              </a:defRPr>
            </a:pPr>
            <a:r>
              <a:t>History updated</a:t>
            </a:r>
          </a:p>
        </p:txBody>
      </p:sp>
      <p:sp>
        <p:nvSpPr>
          <p:cNvPr id="26" name="Rectangle 25"/>
          <p:cNvSpPr/>
          <p:nvPr/>
        </p:nvSpPr>
        <p:spPr>
          <a:xfrm>
            <a:off x="603504" y="6080760"/>
            <a:ext cx="10954512" cy="16459"/>
          </a:xfrm>
          <a:prstGeom prst="rect">
            <a:avLst/>
          </a:prstGeom>
          <a:solidFill>
            <a:srgbClr val="DD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173F35"/>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DD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03 / THE WORKING PROTOTYPE · BUILT FOR CUSTOMERS AND STAFF</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657269"/>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04 / 07</a:t>
            </a:r>
          </a:p>
        </p:txBody>
      </p:sp>
      <p:sp>
        <p:nvSpPr>
          <p:cNvPr id="8" name="TextBox 7"/>
          <p:cNvSpPr txBox="1"/>
          <p:nvPr/>
        </p:nvSpPr>
        <p:spPr>
          <a:xfrm>
            <a:off x="548640" y="1490472"/>
            <a:ext cx="5852160" cy="1143000"/>
          </a:xfrm>
          <a:prstGeom prst="rect">
            <a:avLst/>
          </a:prstGeom>
          <a:noFill/>
        </p:spPr>
        <p:txBody>
          <a:bodyPr wrap="square" lIns="0" tIns="0" rIns="0" bIns="0">
            <a:spAutoFit/>
          </a:bodyPr>
          <a:lstStyle/>
          <a:p>
            <a:pPr>
              <a:spcAft>
                <a:spcPts val="500"/>
              </a:spcAft>
              <a:defRPr sz="3400" b="0">
                <a:solidFill>
                  <a:srgbClr val="203D32"/>
                </a:solidFill>
                <a:latin typeface="Georgia"/>
              </a:defRPr>
            </a:pPr>
            <a:r>
              <a:t>Two screens.</a:t>
            </a:r>
          </a:p>
          <a:p>
            <a:pPr>
              <a:spcAft>
                <a:spcPts val="500"/>
              </a:spcAft>
              <a:defRPr sz="3400" b="0">
                <a:solidFill>
                  <a:srgbClr val="203D32"/>
                </a:solidFill>
                <a:latin typeface="Georgia"/>
              </a:defRPr>
            </a:pPr>
            <a:r>
              <a:t>One complete return flow.</a:t>
            </a:r>
          </a:p>
        </p:txBody>
      </p:sp>
      <p:sp>
        <p:nvSpPr>
          <p:cNvPr id="9" name="TextBox 8"/>
          <p:cNvSpPr txBox="1"/>
          <p:nvPr/>
        </p:nvSpPr>
        <p:spPr>
          <a:xfrm>
            <a:off x="603504" y="3017520"/>
            <a:ext cx="50292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CUSTOMER DASHBOARD</a:t>
            </a:r>
          </a:p>
        </p:txBody>
      </p:sp>
      <p:sp>
        <p:nvSpPr>
          <p:cNvPr id="10" name="TextBox 9"/>
          <p:cNvSpPr txBox="1"/>
          <p:nvPr/>
        </p:nvSpPr>
        <p:spPr>
          <a:xfrm>
            <a:off x="603504" y="3410712"/>
            <a:ext cx="5029200" cy="713232"/>
          </a:xfrm>
          <a:prstGeom prst="rect">
            <a:avLst/>
          </a:prstGeom>
          <a:noFill/>
        </p:spPr>
        <p:txBody>
          <a:bodyPr wrap="square" lIns="0" tIns="0" rIns="0" bIns="0">
            <a:spAutoFit/>
          </a:bodyPr>
          <a:lstStyle/>
          <a:p>
            <a:pPr>
              <a:spcAft>
                <a:spcPts val="500"/>
              </a:spcAft>
              <a:defRPr sz="2000" b="0">
                <a:solidFill>
                  <a:srgbClr val="203D32"/>
                </a:solidFill>
                <a:latin typeface="Segoe UI"/>
              </a:defRPr>
            </a:pPr>
            <a:r>
              <a:t>Balance, active containers,</a:t>
            </a:r>
          </a:p>
          <a:p>
            <a:pPr>
              <a:spcAft>
                <a:spcPts val="500"/>
              </a:spcAft>
              <a:defRPr sz="2000" b="0">
                <a:solidFill>
                  <a:srgbClr val="203D32"/>
                </a:solidFill>
                <a:latin typeface="Segoe UI"/>
              </a:defRPr>
            </a:pPr>
            <a:r>
              <a:t>transaction history and CSV export.</a:t>
            </a:r>
          </a:p>
        </p:txBody>
      </p:sp>
      <p:sp>
        <p:nvSpPr>
          <p:cNvPr id="11" name="TextBox 10"/>
          <p:cNvSpPr txBox="1"/>
          <p:nvPr/>
        </p:nvSpPr>
        <p:spPr>
          <a:xfrm>
            <a:off x="603504" y="4389120"/>
            <a:ext cx="50292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MERCHANT STATION</a:t>
            </a:r>
          </a:p>
        </p:txBody>
      </p:sp>
      <p:sp>
        <p:nvSpPr>
          <p:cNvPr id="12" name="TextBox 11"/>
          <p:cNvSpPr txBox="1"/>
          <p:nvPr/>
        </p:nvSpPr>
        <p:spPr>
          <a:xfrm>
            <a:off x="603504" y="4782312"/>
            <a:ext cx="5029200" cy="713232"/>
          </a:xfrm>
          <a:prstGeom prst="rect">
            <a:avLst/>
          </a:prstGeom>
          <a:noFill/>
        </p:spPr>
        <p:txBody>
          <a:bodyPr wrap="square" lIns="0" tIns="0" rIns="0" bIns="0">
            <a:spAutoFit/>
          </a:bodyPr>
          <a:lstStyle/>
          <a:p>
            <a:pPr>
              <a:spcAft>
                <a:spcPts val="500"/>
              </a:spcAft>
              <a:defRPr sz="2000" b="0">
                <a:solidFill>
                  <a:srgbClr val="203D32"/>
                </a:solidFill>
                <a:latin typeface="Segoe UI"/>
              </a:defRPr>
            </a:pPr>
            <a:r>
              <a:t>Issue by member ID; receive containers</a:t>
            </a:r>
          </a:p>
          <a:p>
            <a:pPr>
              <a:spcAft>
                <a:spcPts val="500"/>
              </a:spcAft>
              <a:defRPr sz="2000" b="0">
                <a:solidFill>
                  <a:srgbClr val="203D32"/>
                </a:solidFill>
                <a:latin typeface="Segoe UI"/>
              </a:defRPr>
            </a:pPr>
            <a:r>
              <a:t>and confirm the physical return.</a:t>
            </a:r>
          </a:p>
        </p:txBody>
      </p:sp>
      <p:sp>
        <p:nvSpPr>
          <p:cNvPr id="13" name="Rounded Rectangle 12"/>
          <p:cNvSpPr/>
          <p:nvPr/>
        </p:nvSpPr>
        <p:spPr>
          <a:xfrm>
            <a:off x="594360" y="5705856"/>
            <a:ext cx="2880360" cy="320040"/>
          </a:xfrm>
          <a:prstGeom prst="roundRect">
            <a:avLst/>
          </a:prstGeom>
          <a:solidFill>
            <a:srgbClr val="DBE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5751576"/>
            <a:ext cx="2660904" cy="210312"/>
          </a:xfrm>
          <a:prstGeom prst="rect">
            <a:avLst/>
          </a:prstGeom>
          <a:noFill/>
        </p:spPr>
        <p:txBody>
          <a:bodyPr wrap="square" lIns="0" tIns="0" rIns="0" bIns="0">
            <a:spAutoFit/>
          </a:bodyPr>
          <a:lstStyle/>
          <a:p>
            <a:pPr>
              <a:spcAft>
                <a:spcPts val="500"/>
              </a:spcAft>
              <a:defRPr sz="1000" b="1">
                <a:solidFill>
                  <a:srgbClr val="173F35"/>
                </a:solidFill>
                <a:latin typeface="Segoe UI"/>
              </a:defRPr>
            </a:pPr>
            <a:r>
              <a:t>WORKING PRODUCT DEMO</a:t>
            </a:r>
          </a:p>
        </p:txBody>
      </p:sp>
      <p:sp>
        <p:nvSpPr>
          <p:cNvPr id="15" name="Rectangle 14"/>
          <p:cNvSpPr/>
          <p:nvPr/>
        </p:nvSpPr>
        <p:spPr>
          <a:xfrm>
            <a:off x="6400800" y="1536192"/>
            <a:ext cx="5239512" cy="4352544"/>
          </a:xfrm>
          <a:prstGeom prst="rect">
            <a:avLst/>
          </a:prstGeom>
          <a:solidFill>
            <a:srgbClr val="FFFEFA"/>
          </a:solidFill>
          <a:ln>
            <a:solidFill>
              <a:srgbClr val="DD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dashboard.png"/>
          <p:cNvPicPr>
            <a:picLocks noChangeAspect="1"/>
          </p:cNvPicPr>
          <p:nvPr/>
        </p:nvPicPr>
        <p:blipFill>
          <a:blip r:embed="rId3"/>
          <a:stretch>
            <a:fillRect/>
          </a:stretch>
        </p:blipFill>
        <p:spPr>
          <a:xfrm>
            <a:off x="6891851" y="1673352"/>
            <a:ext cx="4275698" cy="4023360"/>
          </a:xfrm>
          <a:prstGeom prst="rect">
            <a:avLst/>
          </a:prstGeom>
        </p:spPr>
      </p:pic>
      <p:sp>
        <p:nvSpPr>
          <p:cNvPr id="17" name="TextBox 16"/>
          <p:cNvSpPr txBox="1"/>
          <p:nvPr/>
        </p:nvSpPr>
        <p:spPr>
          <a:xfrm>
            <a:off x="6400800" y="5998464"/>
            <a:ext cx="5257800" cy="320040"/>
          </a:xfrm>
          <a:prstGeom prst="rect">
            <a:avLst/>
          </a:prstGeom>
          <a:noFill/>
        </p:spPr>
        <p:txBody>
          <a:bodyPr wrap="square" lIns="0" tIns="0" rIns="0" bIns="0">
            <a:spAutoFit/>
          </a:bodyPr>
          <a:lstStyle/>
          <a:p>
            <a:pPr>
              <a:spcAft>
                <a:spcPts val="500"/>
              </a:spcAft>
              <a:defRPr sz="1100" b="0">
                <a:solidFill>
                  <a:srgbClr val="657269"/>
                </a:solidFill>
                <a:latin typeface="Segoe UI"/>
              </a:defRPr>
            </a:pPr>
            <a:r>
              <a:t>Actual MVP screen · fictional account · simulated balance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173F35"/>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DD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04 / PRODUCT FILM · WATCH THE LOOP CLOSE</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657269"/>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05 / 07</a:t>
            </a:r>
          </a:p>
        </p:txBody>
      </p:sp>
      <p:sp>
        <p:nvSpPr>
          <p:cNvPr id="8" name="TextBox 7"/>
          <p:cNvSpPr txBox="1"/>
          <p:nvPr/>
        </p:nvSpPr>
        <p:spPr>
          <a:xfrm>
            <a:off x="566928" y="1490472"/>
            <a:ext cx="10972800" cy="594360"/>
          </a:xfrm>
          <a:prstGeom prst="rect">
            <a:avLst/>
          </a:prstGeom>
          <a:noFill/>
        </p:spPr>
        <p:txBody>
          <a:bodyPr wrap="square" lIns="0" tIns="0" rIns="0" bIns="0">
            <a:spAutoFit/>
          </a:bodyPr>
          <a:lstStyle/>
          <a:p>
            <a:pPr>
              <a:spcAft>
                <a:spcPts val="500"/>
              </a:spcAft>
              <a:defRPr sz="3200" b="0">
                <a:solidFill>
                  <a:srgbClr val="203D32"/>
                </a:solidFill>
                <a:latin typeface="Georgia"/>
              </a:defRPr>
            </a:pPr>
            <a:r>
              <a:t>From issuance to return.</a:t>
            </a:r>
          </a:p>
        </p:txBody>
      </p:sp>
      <p:pic>
        <p:nvPicPr>
          <p:cNvPr id="9" name="PfandLoop-Pitch.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79192" y="2487168"/>
            <a:ext cx="6830568" cy="3840480"/>
          </a:xfrm>
          <a:prstGeom prst="rect">
            <a:avLst/>
          </a:prstGeom>
        </p:spPr>
      </p:pic>
      <p:sp>
        <p:nvSpPr>
          <p:cNvPr id="10" name="TextBox 9"/>
          <p:cNvSpPr txBox="1"/>
          <p:nvPr/>
        </p:nvSpPr>
        <p:spPr>
          <a:xfrm>
            <a:off x="594360" y="2359152"/>
            <a:ext cx="1719072" cy="365760"/>
          </a:xfrm>
          <a:prstGeom prst="rect">
            <a:avLst/>
          </a:prstGeom>
          <a:noFill/>
        </p:spPr>
        <p:txBody>
          <a:bodyPr wrap="square" lIns="0" tIns="0" rIns="0" bIns="0">
            <a:spAutoFit/>
          </a:bodyPr>
          <a:lstStyle/>
          <a:p>
            <a:pPr>
              <a:spcAft>
                <a:spcPts val="500"/>
              </a:spcAft>
              <a:defRPr sz="1200" b="1">
                <a:solidFill>
                  <a:srgbClr val="173F35"/>
                </a:solidFill>
                <a:latin typeface="Segoe UI"/>
              </a:defRPr>
            </a:pPr>
            <a:r>
              <a:t>CLICK TO PLAY</a:t>
            </a:r>
          </a:p>
        </p:txBody>
      </p:sp>
      <p:sp>
        <p:nvSpPr>
          <p:cNvPr id="12" name="TextBox 11"/>
          <p:cNvSpPr txBox="1"/>
          <p:nvPr/>
        </p:nvSpPr>
        <p:spPr>
          <a:xfrm>
            <a:off x="594360" y="2112264"/>
            <a:ext cx="10972800" cy="274320"/>
          </a:xfrm>
          <a:prstGeom prst="rect">
            <a:avLst/>
          </a:prstGeom>
          <a:noFill/>
        </p:spPr>
        <p:txBody>
          <a:bodyPr wrap="square" lIns="0" tIns="0" rIns="0" bIns="0">
            <a:spAutoFit/>
          </a:bodyPr>
          <a:lstStyle/>
          <a:p>
            <a:pPr>
              <a:spcAft>
                <a:spcPts val="500"/>
              </a:spcAft>
              <a:defRPr sz="1200" b="0">
                <a:solidFill>
                  <a:srgbClr val="657269"/>
                </a:solidFill>
                <a:latin typeface="Segoe UI"/>
              </a:defRPr>
            </a:pPr>
            <a:r>
              <a:t>Product demo; Explorer footage does not establish a matching cup-specific on-chain proof.</a:t>
            </a:r>
          </a:p>
        </p:txBody>
      </p:sp>
    </p:spTree>
  </p:cSld>
  <p:clrMapOvr>
    <a:masterClrMapping/>
  </p:clrMapOvr>
  <p:timing>
    <p:tnLst>
      <p:par>
        <p:cTn id="1" dur="indefinite" restart="never" nodeType="tmRoot">
          <p:childTnLst>
            <p:video>
              <p:cMediaNode vol="29592">
                <p:cTn id="2" fill="hold" display="0">
                  <p:stCondLst>
                    <p:cond delay="indefinite"/>
                  </p:stCondLst>
                </p:cTn>
                <p:tgtEl>
                  <p:spTgt spid="9"/>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173F35"/>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DD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05 / WHY SOLANA · AN INDEPENDENTLY INSPECTABLE RECEIPT</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657269"/>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657269"/>
                </a:solidFill>
                <a:latin typeface="Segoe UI"/>
              </a:defRPr>
            </a:pPr>
            <a:r>
              <a:t>06 / 07</a:t>
            </a:r>
          </a:p>
        </p:txBody>
      </p:sp>
      <p:sp>
        <p:nvSpPr>
          <p:cNvPr id="8" name="TextBox 7"/>
          <p:cNvSpPr txBox="1"/>
          <p:nvPr/>
        </p:nvSpPr>
        <p:spPr>
          <a:xfrm>
            <a:off x="548640" y="1490472"/>
            <a:ext cx="10881360" cy="1143000"/>
          </a:xfrm>
          <a:prstGeom prst="rect">
            <a:avLst/>
          </a:prstGeom>
          <a:noFill/>
        </p:spPr>
        <p:txBody>
          <a:bodyPr wrap="square" lIns="0" tIns="0" rIns="0" bIns="0">
            <a:spAutoFit/>
          </a:bodyPr>
          <a:lstStyle/>
          <a:p>
            <a:pPr>
              <a:spcAft>
                <a:spcPts val="500"/>
              </a:spcAft>
              <a:defRPr sz="3300" b="0">
                <a:solidFill>
                  <a:srgbClr val="203D32"/>
                </a:solidFill>
                <a:latin typeface="Georgia"/>
              </a:defRPr>
            </a:pPr>
            <a:r>
              <a:t>Link the event. Sign the record.</a:t>
            </a:r>
          </a:p>
          <a:p>
            <a:pPr>
              <a:spcAft>
                <a:spcPts val="500"/>
              </a:spcAft>
              <a:defRPr sz="3300" b="0">
                <a:solidFill>
                  <a:srgbClr val="203D32"/>
                </a:solidFill>
                <a:latin typeface="Georgia"/>
              </a:defRPr>
            </a:pPr>
            <a:r>
              <a:t>Let anyone check it.</a:t>
            </a:r>
          </a:p>
        </p:txBody>
      </p:sp>
      <p:sp>
        <p:nvSpPr>
          <p:cNvPr id="9" name="TextBox 8"/>
          <p:cNvSpPr txBox="1"/>
          <p:nvPr/>
        </p:nvSpPr>
        <p:spPr>
          <a:xfrm>
            <a:off x="594360" y="2743200"/>
            <a:ext cx="10972800" cy="457200"/>
          </a:xfrm>
          <a:prstGeom prst="rect">
            <a:avLst/>
          </a:prstGeom>
          <a:noFill/>
        </p:spPr>
        <p:txBody>
          <a:bodyPr wrap="square" lIns="0" tIns="0" rIns="0" bIns="0">
            <a:spAutoFit/>
          </a:bodyPr>
          <a:lstStyle/>
          <a:p>
            <a:pPr>
              <a:spcAft>
                <a:spcPts val="500"/>
              </a:spcAft>
              <a:defRPr sz="2000" b="0">
                <a:solidFill>
                  <a:srgbClr val="203D32"/>
                </a:solidFill>
                <a:latin typeface="Segoe UI"/>
              </a:defRPr>
            </a:pPr>
            <a:r>
              <a:t>“Proof of identity” = a signed event linked to an app user and container.</a:t>
            </a:r>
          </a:p>
        </p:txBody>
      </p:sp>
      <p:sp>
        <p:nvSpPr>
          <p:cNvPr id="10" name="Rectangle 9"/>
          <p:cNvSpPr/>
          <p:nvPr/>
        </p:nvSpPr>
        <p:spPr>
          <a:xfrm>
            <a:off x="594360" y="3493008"/>
            <a:ext cx="3383280" cy="1499616"/>
          </a:xfrm>
          <a:prstGeom prst="rect">
            <a:avLst/>
          </a:prstGeom>
          <a:solidFill>
            <a:srgbClr val="ED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3657600"/>
            <a:ext cx="3044952" cy="274320"/>
          </a:xfrm>
          <a:prstGeom prst="rect">
            <a:avLst/>
          </a:prstGeom>
          <a:noFill/>
        </p:spPr>
        <p:txBody>
          <a:bodyPr wrap="square" lIns="0" tIns="0" rIns="0" bIns="0">
            <a:spAutoFit/>
          </a:bodyPr>
          <a:lstStyle/>
          <a:p>
            <a:pPr>
              <a:spcAft>
                <a:spcPts val="500"/>
              </a:spcAft>
              <a:defRPr sz="1200" b="1">
                <a:solidFill>
                  <a:srgbClr val="173F35"/>
                </a:solidFill>
                <a:latin typeface="Segoe UI"/>
              </a:defRPr>
            </a:pPr>
            <a:r>
              <a:t>01 / LINK</a:t>
            </a:r>
          </a:p>
        </p:txBody>
      </p:sp>
      <p:sp>
        <p:nvSpPr>
          <p:cNvPr id="12" name="TextBox 11"/>
          <p:cNvSpPr txBox="1"/>
          <p:nvPr/>
        </p:nvSpPr>
        <p:spPr>
          <a:xfrm>
            <a:off x="758952" y="4105656"/>
            <a:ext cx="3044952" cy="731520"/>
          </a:xfrm>
          <a:prstGeom prst="rect">
            <a:avLst/>
          </a:prstGeom>
          <a:noFill/>
        </p:spPr>
        <p:txBody>
          <a:bodyPr wrap="square" lIns="0" tIns="0" rIns="0" bIns="0">
            <a:spAutoFit/>
          </a:bodyPr>
          <a:lstStyle/>
          <a:p>
            <a:pPr>
              <a:spcAft>
                <a:spcPts val="500"/>
              </a:spcAft>
              <a:defRPr sz="1700" b="0">
                <a:solidFill>
                  <a:srgbClr val="203D32"/>
                </a:solidFill>
                <a:latin typeface="Segoe UI"/>
              </a:defRPr>
            </a:pPr>
            <a:r>
              <a:t>User ID + cup serial</a:t>
            </a:r>
          </a:p>
          <a:p>
            <a:pPr>
              <a:spcAft>
                <a:spcPts val="500"/>
              </a:spcAft>
              <a:defRPr sz="1700" b="0">
                <a:solidFill>
                  <a:srgbClr val="203D32"/>
                </a:solidFill>
                <a:latin typeface="Segoe UI"/>
              </a:defRPr>
            </a:pPr>
            <a:r>
              <a:t>Action + loan ID</a:t>
            </a:r>
          </a:p>
        </p:txBody>
      </p:sp>
      <p:sp>
        <p:nvSpPr>
          <p:cNvPr id="13" name="Rectangle 12"/>
          <p:cNvSpPr/>
          <p:nvPr/>
        </p:nvSpPr>
        <p:spPr>
          <a:xfrm>
            <a:off x="4407408" y="3493008"/>
            <a:ext cx="3383280" cy="1499616"/>
          </a:xfrm>
          <a:prstGeom prst="rect">
            <a:avLst/>
          </a:prstGeom>
          <a:solidFill>
            <a:srgbClr val="ED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3657600"/>
            <a:ext cx="3044952" cy="274320"/>
          </a:xfrm>
          <a:prstGeom prst="rect">
            <a:avLst/>
          </a:prstGeom>
          <a:noFill/>
        </p:spPr>
        <p:txBody>
          <a:bodyPr wrap="square" lIns="0" tIns="0" rIns="0" bIns="0">
            <a:spAutoFit/>
          </a:bodyPr>
          <a:lstStyle/>
          <a:p>
            <a:pPr>
              <a:spcAft>
                <a:spcPts val="500"/>
              </a:spcAft>
              <a:defRPr sz="1200" b="1">
                <a:solidFill>
                  <a:srgbClr val="173F35"/>
                </a:solidFill>
                <a:latin typeface="Segoe UI"/>
              </a:defRPr>
            </a:pPr>
            <a:r>
              <a:t>02 / SIGN</a:t>
            </a:r>
          </a:p>
        </p:txBody>
      </p:sp>
      <p:sp>
        <p:nvSpPr>
          <p:cNvPr id="15" name="TextBox 14"/>
          <p:cNvSpPr txBox="1"/>
          <p:nvPr/>
        </p:nvSpPr>
        <p:spPr>
          <a:xfrm>
            <a:off x="4572000" y="4105656"/>
            <a:ext cx="3044952" cy="731520"/>
          </a:xfrm>
          <a:prstGeom prst="rect">
            <a:avLst/>
          </a:prstGeom>
          <a:noFill/>
        </p:spPr>
        <p:txBody>
          <a:bodyPr wrap="square" lIns="0" tIns="0" rIns="0" bIns="0">
            <a:spAutoFit/>
          </a:bodyPr>
          <a:lstStyle/>
          <a:p>
            <a:pPr>
              <a:spcAft>
                <a:spcPts val="500"/>
              </a:spcAft>
              <a:defRPr sz="1700" b="0">
                <a:solidFill>
                  <a:srgbClr val="203D32"/>
                </a:solidFill>
                <a:latin typeface="Segoe UI"/>
              </a:defRPr>
            </a:pPr>
            <a:r>
              <a:t>Operator signs an SPL Memo</a:t>
            </a:r>
          </a:p>
          <a:p>
            <a:pPr>
              <a:spcAft>
                <a:spcPts val="500"/>
              </a:spcAft>
              <a:defRPr sz="1700" b="0">
                <a:solidFill>
                  <a:srgbClr val="203D32"/>
                </a:solidFill>
                <a:latin typeface="Segoe UI"/>
              </a:defRPr>
            </a:pPr>
            <a:r>
              <a:t>Solana records the transaction</a:t>
            </a:r>
          </a:p>
        </p:txBody>
      </p:sp>
      <p:sp>
        <p:nvSpPr>
          <p:cNvPr id="16" name="Rectangle 15"/>
          <p:cNvSpPr/>
          <p:nvPr/>
        </p:nvSpPr>
        <p:spPr>
          <a:xfrm>
            <a:off x="8211312" y="3493008"/>
            <a:ext cx="3383280" cy="1499616"/>
          </a:xfrm>
          <a:prstGeom prst="rect">
            <a:avLst/>
          </a:prstGeom>
          <a:solidFill>
            <a:srgbClr val="ED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75904" y="3657600"/>
            <a:ext cx="3044952" cy="274320"/>
          </a:xfrm>
          <a:prstGeom prst="rect">
            <a:avLst/>
          </a:prstGeom>
          <a:noFill/>
        </p:spPr>
        <p:txBody>
          <a:bodyPr wrap="square" lIns="0" tIns="0" rIns="0" bIns="0">
            <a:spAutoFit/>
          </a:bodyPr>
          <a:lstStyle/>
          <a:p>
            <a:pPr>
              <a:spcAft>
                <a:spcPts val="500"/>
              </a:spcAft>
              <a:defRPr sz="1200" b="1">
                <a:solidFill>
                  <a:srgbClr val="173F35"/>
                </a:solidFill>
                <a:latin typeface="Segoe UI"/>
              </a:defRPr>
            </a:pPr>
            <a:r>
              <a:t>03 / VERIFY</a:t>
            </a:r>
          </a:p>
        </p:txBody>
      </p:sp>
      <p:sp>
        <p:nvSpPr>
          <p:cNvPr id="18" name="TextBox 17"/>
          <p:cNvSpPr txBox="1"/>
          <p:nvPr/>
        </p:nvSpPr>
        <p:spPr>
          <a:xfrm>
            <a:off x="8375904" y="4105656"/>
            <a:ext cx="3044952" cy="731520"/>
          </a:xfrm>
          <a:prstGeom prst="rect">
            <a:avLst/>
          </a:prstGeom>
          <a:noFill/>
        </p:spPr>
        <p:txBody>
          <a:bodyPr wrap="square" lIns="0" tIns="0" rIns="0" bIns="0">
            <a:spAutoFit/>
          </a:bodyPr>
          <a:lstStyle/>
          <a:p>
            <a:pPr>
              <a:spcAft>
                <a:spcPts val="500"/>
              </a:spcAft>
              <a:defRPr sz="1700" b="0">
                <a:solidFill>
                  <a:srgbClr val="203D32"/>
                </a:solidFill>
                <a:latin typeface="Segoe UI"/>
              </a:defRPr>
            </a:pPr>
            <a:r>
              <a:t>Correct cluster + success</a:t>
            </a:r>
          </a:p>
          <a:p>
            <a:pPr>
              <a:spcAft>
                <a:spcPts val="500"/>
              </a:spcAft>
              <a:defRPr sz="1700" b="0">
                <a:solidFill>
                  <a:srgbClr val="203D32"/>
                </a:solidFill>
                <a:latin typeface="Segoe UI"/>
              </a:defRPr>
            </a:pPr>
            <a:r>
              <a:t>Matching memo + expected signer</a:t>
            </a:r>
          </a:p>
        </p:txBody>
      </p:sp>
      <p:sp>
        <p:nvSpPr>
          <p:cNvPr id="19" name="TextBox 18"/>
          <p:cNvSpPr txBox="1"/>
          <p:nvPr/>
        </p:nvSpPr>
        <p:spPr>
          <a:xfrm>
            <a:off x="594360" y="5294376"/>
            <a:ext cx="512064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WHAT IT PROVES</a:t>
            </a:r>
          </a:p>
        </p:txBody>
      </p:sp>
      <p:sp>
        <p:nvSpPr>
          <p:cNvPr id="20" name="TextBox 19"/>
          <p:cNvSpPr txBox="1"/>
          <p:nvPr/>
        </p:nvSpPr>
        <p:spPr>
          <a:xfrm>
            <a:off x="594360" y="5632704"/>
            <a:ext cx="5303520" cy="640080"/>
          </a:xfrm>
          <a:prstGeom prst="rect">
            <a:avLst/>
          </a:prstGeom>
          <a:noFill/>
        </p:spPr>
        <p:txBody>
          <a:bodyPr wrap="square" lIns="0" tIns="0" rIns="0" bIns="0">
            <a:spAutoFit/>
          </a:bodyPr>
          <a:lstStyle/>
          <a:p>
            <a:pPr>
              <a:spcAft>
                <a:spcPts val="500"/>
              </a:spcAft>
              <a:defRPr sz="1700" b="0">
                <a:solidFill>
                  <a:srgbClr val="203D32"/>
                </a:solidFill>
                <a:latin typeface="Segoe UI"/>
              </a:defRPr>
            </a:pPr>
            <a:r>
              <a:t>The signing key approved this event record.</a:t>
            </a:r>
          </a:p>
          <a:p>
            <a:pPr>
              <a:spcAft>
                <a:spcPts val="500"/>
              </a:spcAft>
              <a:defRPr sz="1700" b="0">
                <a:solidFill>
                  <a:srgbClr val="203D32"/>
                </a:solidFill>
                <a:latin typeface="Segoe UI"/>
              </a:defRPr>
            </a:pPr>
            <a:r>
              <a:t>Staff still verify the cup; this is not KYC.</a:t>
            </a:r>
          </a:p>
        </p:txBody>
      </p:sp>
      <p:sp>
        <p:nvSpPr>
          <p:cNvPr id="21" name="TextBox 20"/>
          <p:cNvSpPr txBox="1"/>
          <p:nvPr/>
        </p:nvSpPr>
        <p:spPr>
          <a:xfrm>
            <a:off x="6400800" y="5294376"/>
            <a:ext cx="5166360" cy="274320"/>
          </a:xfrm>
          <a:prstGeom prst="rect">
            <a:avLst/>
          </a:prstGeom>
          <a:noFill/>
        </p:spPr>
        <p:txBody>
          <a:bodyPr wrap="square" lIns="0" tIns="0" rIns="0" bIns="0">
            <a:spAutoFit/>
          </a:bodyPr>
          <a:lstStyle/>
          <a:p>
            <a:pPr>
              <a:spcAft>
                <a:spcPts val="500"/>
              </a:spcAft>
              <a:defRPr sz="1100" b="1">
                <a:solidFill>
                  <a:srgbClr val="657269"/>
                </a:solidFill>
                <a:latin typeface="Segoe UI"/>
              </a:defRPr>
            </a:pPr>
            <a:r>
              <a:t>PAYMENTS &amp; CURRENT EVIDENCE</a:t>
            </a:r>
          </a:p>
        </p:txBody>
      </p:sp>
      <p:sp>
        <p:nvSpPr>
          <p:cNvPr id="22" name="TextBox 21"/>
          <p:cNvSpPr txBox="1"/>
          <p:nvPr/>
        </p:nvSpPr>
        <p:spPr>
          <a:xfrm>
            <a:off x="6400800" y="5632704"/>
            <a:ext cx="5212080" cy="640080"/>
          </a:xfrm>
          <a:prstGeom prst="rect">
            <a:avLst/>
          </a:prstGeom>
          <a:noFill/>
        </p:spPr>
        <p:txBody>
          <a:bodyPr wrap="square" lIns="0" tIns="0" rIns="0" bIns="0">
            <a:spAutoFit/>
          </a:bodyPr>
          <a:lstStyle/>
          <a:p>
            <a:pPr>
              <a:spcAft>
                <a:spcPts val="500"/>
              </a:spcAft>
              <a:defRPr sz="1700" b="0">
                <a:solidFill>
                  <a:srgbClr val="203D32"/>
                </a:solidFill>
                <a:latin typeface="Segoe UI"/>
              </a:defRPr>
            </a:pPr>
            <a:r>
              <a:t>Devnet test-USDC adapter implemented.</a:t>
            </a:r>
          </a:p>
          <a:p>
            <a:pPr>
              <a:spcAft>
                <a:spcPts val="500"/>
              </a:spcAft>
              <a:defRPr sz="1700" b="0">
                <a:solidFill>
                  <a:srgbClr val="203D32"/>
                </a:solidFill>
                <a:latin typeface="Segoe UI"/>
              </a:defRPr>
            </a:pPr>
            <a:r>
              <a:t>Matching live proof remains to be demonstrated.</a:t>
            </a:r>
          </a:p>
        </p:txBody>
      </p:sp>
      <p:pic>
        <p:nvPicPr>
          <p:cNvPr id="24" name="Picture 23">
            <a:extLst>
              <a:ext uri="{FF2B5EF4-FFF2-40B4-BE49-F238E27FC236}">
                <a16:creationId xmlns:a16="http://schemas.microsoft.com/office/drawing/2014/main" id="{752E3ECB-70A6-EBDE-729F-AA0C0B89C2C2}"/>
              </a:ext>
            </a:extLst>
          </p:cNvPr>
          <p:cNvPicPr>
            <a:picLocks noChangeAspect="1"/>
          </p:cNvPicPr>
          <p:nvPr/>
        </p:nvPicPr>
        <p:blipFill>
          <a:blip r:embed="rId3"/>
          <a:stretch>
            <a:fillRect/>
          </a:stretch>
        </p:blipFill>
        <p:spPr>
          <a:xfrm>
            <a:off x="8895376" y="974984"/>
            <a:ext cx="2671784" cy="20292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TextBox 1"/>
          <p:cNvSpPr txBox="1"/>
          <p:nvPr/>
        </p:nvSpPr>
        <p:spPr>
          <a:xfrm>
            <a:off x="530352" y="256032"/>
            <a:ext cx="2743200" cy="365760"/>
          </a:xfrm>
          <a:prstGeom prst="rect">
            <a:avLst/>
          </a:prstGeom>
          <a:noFill/>
        </p:spPr>
        <p:txBody>
          <a:bodyPr wrap="square" lIns="0" tIns="0" rIns="0" bIns="0">
            <a:spAutoFit/>
          </a:bodyPr>
          <a:lstStyle/>
          <a:p>
            <a:pPr>
              <a:spcAft>
                <a:spcPts val="500"/>
              </a:spcAft>
              <a:defRPr sz="2000" b="1">
                <a:solidFill>
                  <a:srgbClr val="F8F7F2"/>
                </a:solidFill>
                <a:latin typeface="Segoe UI"/>
              </a:defRPr>
            </a:pPr>
            <a:r>
              <a:t>↻ pfandloop.</a:t>
            </a:r>
          </a:p>
        </p:txBody>
      </p:sp>
      <p:sp>
        <p:nvSpPr>
          <p:cNvPr id="3" name="TextBox 2"/>
          <p:cNvSpPr txBox="1"/>
          <p:nvPr/>
        </p:nvSpPr>
        <p:spPr>
          <a:xfrm>
            <a:off x="7498079" y="329184"/>
            <a:ext cx="4160520" cy="274320"/>
          </a:xfrm>
          <a:prstGeom prst="rect">
            <a:avLst/>
          </a:prstGeom>
          <a:noFill/>
        </p:spPr>
        <p:txBody>
          <a:bodyPr wrap="square" lIns="0" tIns="0" rIns="0" bIns="0">
            <a:spAutoFit/>
          </a:bodyPr>
          <a:lstStyle/>
          <a:p>
            <a:pPr algn="r">
              <a:spcAft>
                <a:spcPts val="500"/>
              </a:spcAft>
              <a:defRPr sz="1000" b="0">
                <a:solidFill>
                  <a:srgbClr val="DBE7AC"/>
                </a:solidFill>
                <a:latin typeface="Segoe UI"/>
              </a:defRPr>
            </a:pPr>
            <a:r>
              <a:t>BUILD AN MVP WITH SOLANA AT WHU</a:t>
            </a:r>
          </a:p>
        </p:txBody>
      </p:sp>
      <p:sp>
        <p:nvSpPr>
          <p:cNvPr id="4" name="Rectangle 3"/>
          <p:cNvSpPr/>
          <p:nvPr/>
        </p:nvSpPr>
        <p:spPr>
          <a:xfrm>
            <a:off x="530352" y="822960"/>
            <a:ext cx="11128248" cy="10972"/>
          </a:xfrm>
          <a:prstGeom prst="rect">
            <a:avLst/>
          </a:prstGeom>
          <a:solidFill>
            <a:srgbClr val="416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078992"/>
            <a:ext cx="10058400" cy="274320"/>
          </a:xfrm>
          <a:prstGeom prst="rect">
            <a:avLst/>
          </a:prstGeom>
          <a:noFill/>
        </p:spPr>
        <p:txBody>
          <a:bodyPr wrap="square" lIns="0" tIns="0" rIns="0" bIns="0">
            <a:spAutoFit/>
          </a:bodyPr>
          <a:lstStyle/>
          <a:p>
            <a:pPr>
              <a:spcAft>
                <a:spcPts val="500"/>
              </a:spcAft>
              <a:defRPr sz="1100" b="1">
                <a:solidFill>
                  <a:srgbClr val="DBE7AC"/>
                </a:solidFill>
                <a:latin typeface="Segoe UI"/>
              </a:defRPr>
            </a:pPr>
            <a:r>
              <a:t>06 / FIRST USERS · START SMALL, EARN THE NEXT LOCATION</a:t>
            </a:r>
          </a:p>
        </p:txBody>
      </p:sp>
      <p:sp>
        <p:nvSpPr>
          <p:cNvPr id="6" name="TextBox 5"/>
          <p:cNvSpPr txBox="1"/>
          <p:nvPr/>
        </p:nvSpPr>
        <p:spPr>
          <a:xfrm>
            <a:off x="566928" y="6492240"/>
            <a:ext cx="3657600" cy="182880"/>
          </a:xfrm>
          <a:prstGeom prst="rect">
            <a:avLst/>
          </a:prstGeom>
          <a:noFill/>
        </p:spPr>
        <p:txBody>
          <a:bodyPr wrap="square" lIns="0" tIns="0" rIns="0" bIns="0">
            <a:spAutoFit/>
          </a:bodyPr>
          <a:lstStyle/>
          <a:p>
            <a:pPr>
              <a:spcAft>
                <a:spcPts val="500"/>
              </a:spcAft>
              <a:defRPr sz="900" b="0">
                <a:solidFill>
                  <a:srgbClr val="DBE7AC"/>
                </a:solidFill>
                <a:latin typeface="Segoe UI"/>
              </a:defRPr>
            </a:pPr>
            <a:r>
              <a:t>WHU HACKATHON 2026</a:t>
            </a:r>
          </a:p>
        </p:txBody>
      </p:sp>
      <p:sp>
        <p:nvSpPr>
          <p:cNvPr id="7" name="TextBox 6"/>
          <p:cNvSpPr txBox="1"/>
          <p:nvPr/>
        </p:nvSpPr>
        <p:spPr>
          <a:xfrm>
            <a:off x="10607040" y="6455664"/>
            <a:ext cx="1005840" cy="228600"/>
          </a:xfrm>
          <a:prstGeom prst="rect">
            <a:avLst/>
          </a:prstGeom>
          <a:noFill/>
        </p:spPr>
        <p:txBody>
          <a:bodyPr wrap="square" lIns="0" tIns="0" rIns="0" bIns="0">
            <a:spAutoFit/>
          </a:bodyPr>
          <a:lstStyle/>
          <a:p>
            <a:pPr algn="r">
              <a:spcAft>
                <a:spcPts val="500"/>
              </a:spcAft>
              <a:defRPr sz="1000" b="0">
                <a:solidFill>
                  <a:srgbClr val="DBE7AC"/>
                </a:solidFill>
                <a:latin typeface="Segoe UI"/>
              </a:defRPr>
            </a:pPr>
            <a:r>
              <a:t>07 / 07</a:t>
            </a:r>
          </a:p>
        </p:txBody>
      </p:sp>
      <p:sp>
        <p:nvSpPr>
          <p:cNvPr id="8" name="TextBox 7"/>
          <p:cNvSpPr txBox="1"/>
          <p:nvPr/>
        </p:nvSpPr>
        <p:spPr>
          <a:xfrm>
            <a:off x="548640" y="1490472"/>
            <a:ext cx="10881360" cy="1143000"/>
          </a:xfrm>
          <a:prstGeom prst="rect">
            <a:avLst/>
          </a:prstGeom>
          <a:noFill/>
        </p:spPr>
        <p:txBody>
          <a:bodyPr wrap="square" lIns="0" tIns="0" rIns="0" bIns="0">
            <a:spAutoFit/>
          </a:bodyPr>
          <a:lstStyle/>
          <a:p>
            <a:pPr>
              <a:spcAft>
                <a:spcPts val="500"/>
              </a:spcAft>
              <a:defRPr sz="3600" b="0">
                <a:solidFill>
                  <a:srgbClr val="F8F7F2"/>
                </a:solidFill>
                <a:latin typeface="Georgia"/>
              </a:defRPr>
            </a:pPr>
            <a:r>
              <a:t>One campus. Two stands.</a:t>
            </a:r>
          </a:p>
          <a:p>
            <a:pPr>
              <a:spcAft>
                <a:spcPts val="500"/>
              </a:spcAft>
              <a:defRPr sz="3600" b="0">
                <a:solidFill>
                  <a:srgbClr val="F8F7F2"/>
                </a:solidFill>
                <a:latin typeface="Georgia"/>
              </a:defRPr>
            </a:pPr>
            <a:r>
              <a:t>A loop we can measure.</a:t>
            </a:r>
          </a:p>
        </p:txBody>
      </p:sp>
      <p:sp>
        <p:nvSpPr>
          <p:cNvPr id="9" name="TextBox 8"/>
          <p:cNvSpPr txBox="1"/>
          <p:nvPr/>
        </p:nvSpPr>
        <p:spPr>
          <a:xfrm>
            <a:off x="603504" y="3246120"/>
            <a:ext cx="914400" cy="548640"/>
          </a:xfrm>
          <a:prstGeom prst="rect">
            <a:avLst/>
          </a:prstGeom>
          <a:noFill/>
        </p:spPr>
        <p:txBody>
          <a:bodyPr wrap="square" lIns="0" tIns="0" rIns="0" bIns="0">
            <a:spAutoFit/>
          </a:bodyPr>
          <a:lstStyle/>
          <a:p>
            <a:pPr>
              <a:spcAft>
                <a:spcPts val="500"/>
              </a:spcAft>
              <a:defRPr sz="3000" b="0">
                <a:solidFill>
                  <a:srgbClr val="DBE7AC"/>
                </a:solidFill>
                <a:latin typeface="Georgia"/>
              </a:defRPr>
            </a:pPr>
            <a:r>
              <a:t>01</a:t>
            </a:r>
          </a:p>
        </p:txBody>
      </p:sp>
      <p:sp>
        <p:nvSpPr>
          <p:cNvPr id="10" name="TextBox 9"/>
          <p:cNvSpPr txBox="1"/>
          <p:nvPr/>
        </p:nvSpPr>
        <p:spPr>
          <a:xfrm>
            <a:off x="603504" y="3941063"/>
            <a:ext cx="3383280" cy="274320"/>
          </a:xfrm>
          <a:prstGeom prst="rect">
            <a:avLst/>
          </a:prstGeom>
          <a:noFill/>
        </p:spPr>
        <p:txBody>
          <a:bodyPr wrap="square" lIns="0" tIns="0" rIns="0" bIns="0">
            <a:spAutoFit/>
          </a:bodyPr>
          <a:lstStyle/>
          <a:p>
            <a:pPr>
              <a:spcAft>
                <a:spcPts val="500"/>
              </a:spcAft>
              <a:defRPr sz="1200" b="1">
                <a:solidFill>
                  <a:srgbClr val="DBE7AC"/>
                </a:solidFill>
                <a:latin typeface="Segoe UI"/>
              </a:defRPr>
            </a:pPr>
            <a:r>
              <a:t>RECRUIT</a:t>
            </a:r>
          </a:p>
        </p:txBody>
      </p:sp>
      <p:sp>
        <p:nvSpPr>
          <p:cNvPr id="11" name="TextBox 10"/>
          <p:cNvSpPr txBox="1"/>
          <p:nvPr/>
        </p:nvSpPr>
        <p:spPr>
          <a:xfrm>
            <a:off x="603504" y="4453128"/>
            <a:ext cx="3346704" cy="1143000"/>
          </a:xfrm>
          <a:prstGeom prst="rect">
            <a:avLst/>
          </a:prstGeom>
          <a:noFill/>
        </p:spPr>
        <p:txBody>
          <a:bodyPr wrap="square" lIns="0" tIns="0" rIns="0" bIns="0">
            <a:spAutoFit/>
          </a:bodyPr>
          <a:lstStyle/>
          <a:p>
            <a:pPr>
              <a:spcAft>
                <a:spcPts val="500"/>
              </a:spcAft>
              <a:defRPr sz="1900" b="0">
                <a:solidFill>
                  <a:srgbClr val="F8F7F2"/>
                </a:solidFill>
                <a:latin typeface="Segoe UI"/>
              </a:defRPr>
            </a:pPr>
            <a:r>
              <a:t>Ask a campus organizer</a:t>
            </a:r>
          </a:p>
          <a:p>
            <a:pPr>
              <a:spcAft>
                <a:spcPts val="500"/>
              </a:spcAft>
              <a:defRPr sz="1900" b="0">
                <a:solidFill>
                  <a:srgbClr val="F8F7F2"/>
                </a:solidFill>
                <a:latin typeface="Segoe UI"/>
              </a:defRPr>
            </a:pPr>
            <a:r>
              <a:t>for two participating stands.</a:t>
            </a:r>
          </a:p>
        </p:txBody>
      </p:sp>
      <p:sp>
        <p:nvSpPr>
          <p:cNvPr id="12" name="TextBox 11"/>
          <p:cNvSpPr txBox="1"/>
          <p:nvPr/>
        </p:nvSpPr>
        <p:spPr>
          <a:xfrm>
            <a:off x="4434840" y="3246120"/>
            <a:ext cx="914400" cy="548640"/>
          </a:xfrm>
          <a:prstGeom prst="rect">
            <a:avLst/>
          </a:prstGeom>
          <a:noFill/>
        </p:spPr>
        <p:txBody>
          <a:bodyPr wrap="square" lIns="0" tIns="0" rIns="0" bIns="0">
            <a:spAutoFit/>
          </a:bodyPr>
          <a:lstStyle/>
          <a:p>
            <a:pPr>
              <a:spcAft>
                <a:spcPts val="500"/>
              </a:spcAft>
              <a:defRPr sz="3000" b="0">
                <a:solidFill>
                  <a:srgbClr val="DBE7AC"/>
                </a:solidFill>
                <a:latin typeface="Georgia"/>
              </a:defRPr>
            </a:pPr>
            <a:r>
              <a:t>02</a:t>
            </a:r>
          </a:p>
        </p:txBody>
      </p:sp>
      <p:sp>
        <p:nvSpPr>
          <p:cNvPr id="13" name="TextBox 12"/>
          <p:cNvSpPr txBox="1"/>
          <p:nvPr/>
        </p:nvSpPr>
        <p:spPr>
          <a:xfrm>
            <a:off x="4434840" y="3941063"/>
            <a:ext cx="3383280" cy="274320"/>
          </a:xfrm>
          <a:prstGeom prst="rect">
            <a:avLst/>
          </a:prstGeom>
          <a:noFill/>
        </p:spPr>
        <p:txBody>
          <a:bodyPr wrap="square" lIns="0" tIns="0" rIns="0" bIns="0">
            <a:spAutoFit/>
          </a:bodyPr>
          <a:lstStyle/>
          <a:p>
            <a:pPr>
              <a:spcAft>
                <a:spcPts val="500"/>
              </a:spcAft>
              <a:defRPr sz="1200" b="1">
                <a:solidFill>
                  <a:srgbClr val="DBE7AC"/>
                </a:solidFill>
                <a:latin typeface="Segoe UI"/>
              </a:defRPr>
            </a:pPr>
            <a:r>
              <a:t>LEARN</a:t>
            </a:r>
          </a:p>
        </p:txBody>
      </p:sp>
      <p:sp>
        <p:nvSpPr>
          <p:cNvPr id="14" name="TextBox 13"/>
          <p:cNvSpPr txBox="1"/>
          <p:nvPr/>
        </p:nvSpPr>
        <p:spPr>
          <a:xfrm>
            <a:off x="4434840" y="4453128"/>
            <a:ext cx="3346704" cy="1143000"/>
          </a:xfrm>
          <a:prstGeom prst="rect">
            <a:avLst/>
          </a:prstGeom>
          <a:noFill/>
        </p:spPr>
        <p:txBody>
          <a:bodyPr wrap="square" lIns="0" tIns="0" rIns="0" bIns="0">
            <a:spAutoFit/>
          </a:bodyPr>
          <a:lstStyle/>
          <a:p>
            <a:pPr>
              <a:spcAft>
                <a:spcPts val="500"/>
              </a:spcAft>
              <a:defRPr sz="1900" b="0">
                <a:solidFill>
                  <a:srgbClr val="F8F7F2"/>
                </a:solidFill>
                <a:latin typeface="Segoe UI"/>
              </a:defRPr>
            </a:pPr>
            <a:r>
              <a:t>Run supervised returns.</a:t>
            </a:r>
          </a:p>
          <a:p>
            <a:pPr>
              <a:spcAft>
                <a:spcPts val="500"/>
              </a:spcAft>
              <a:defRPr sz="1900" b="0">
                <a:solidFill>
                  <a:srgbClr val="F8F7F2"/>
                </a:solidFill>
                <a:latin typeface="Segoe UI"/>
              </a:defRPr>
            </a:pPr>
            <a:r>
              <a:t>Measure completion, staff time</a:t>
            </a:r>
          </a:p>
          <a:p>
            <a:pPr>
              <a:spcAft>
                <a:spcPts val="500"/>
              </a:spcAft>
              <a:defRPr sz="1900" b="0">
                <a:solidFill>
                  <a:srgbClr val="F8F7F2"/>
                </a:solidFill>
                <a:latin typeface="Segoe UI"/>
              </a:defRPr>
            </a:pPr>
            <a:r>
              <a:t>and failed refunds.</a:t>
            </a:r>
          </a:p>
        </p:txBody>
      </p:sp>
      <p:sp>
        <p:nvSpPr>
          <p:cNvPr id="15" name="TextBox 14"/>
          <p:cNvSpPr txBox="1"/>
          <p:nvPr/>
        </p:nvSpPr>
        <p:spPr>
          <a:xfrm>
            <a:off x="8266175" y="3246120"/>
            <a:ext cx="914400" cy="548640"/>
          </a:xfrm>
          <a:prstGeom prst="rect">
            <a:avLst/>
          </a:prstGeom>
          <a:noFill/>
        </p:spPr>
        <p:txBody>
          <a:bodyPr wrap="square" lIns="0" tIns="0" rIns="0" bIns="0">
            <a:spAutoFit/>
          </a:bodyPr>
          <a:lstStyle/>
          <a:p>
            <a:pPr>
              <a:spcAft>
                <a:spcPts val="500"/>
              </a:spcAft>
              <a:defRPr sz="3000" b="0">
                <a:solidFill>
                  <a:srgbClr val="DBE7AC"/>
                </a:solidFill>
                <a:latin typeface="Georgia"/>
              </a:defRPr>
            </a:pPr>
            <a:r>
              <a:t>03</a:t>
            </a:r>
          </a:p>
        </p:txBody>
      </p:sp>
      <p:sp>
        <p:nvSpPr>
          <p:cNvPr id="16" name="TextBox 15"/>
          <p:cNvSpPr txBox="1"/>
          <p:nvPr/>
        </p:nvSpPr>
        <p:spPr>
          <a:xfrm>
            <a:off x="8266175" y="3941063"/>
            <a:ext cx="3383280" cy="274320"/>
          </a:xfrm>
          <a:prstGeom prst="rect">
            <a:avLst/>
          </a:prstGeom>
          <a:noFill/>
        </p:spPr>
        <p:txBody>
          <a:bodyPr wrap="square" lIns="0" tIns="0" rIns="0" bIns="0">
            <a:spAutoFit/>
          </a:bodyPr>
          <a:lstStyle/>
          <a:p>
            <a:pPr>
              <a:spcAft>
                <a:spcPts val="500"/>
              </a:spcAft>
              <a:defRPr sz="1200" b="1">
                <a:solidFill>
                  <a:srgbClr val="DBE7AC"/>
                </a:solidFill>
                <a:latin typeface="Segoe UI"/>
              </a:defRPr>
            </a:pPr>
            <a:r>
              <a:t>EXPAND</a:t>
            </a:r>
          </a:p>
        </p:txBody>
      </p:sp>
      <p:sp>
        <p:nvSpPr>
          <p:cNvPr id="17" name="TextBox 16"/>
          <p:cNvSpPr txBox="1"/>
          <p:nvPr/>
        </p:nvSpPr>
        <p:spPr>
          <a:xfrm>
            <a:off x="8266175" y="4453128"/>
            <a:ext cx="3346704" cy="1143000"/>
          </a:xfrm>
          <a:prstGeom prst="rect">
            <a:avLst/>
          </a:prstGeom>
          <a:noFill/>
        </p:spPr>
        <p:txBody>
          <a:bodyPr wrap="square" lIns="0" tIns="0" rIns="0" bIns="0">
            <a:spAutoFit/>
          </a:bodyPr>
          <a:lstStyle/>
          <a:p>
            <a:pPr>
              <a:spcAft>
                <a:spcPts val="500"/>
              </a:spcAft>
              <a:defRPr sz="1900" b="0">
                <a:solidFill>
                  <a:srgbClr val="F8F7F2"/>
                </a:solidFill>
                <a:latin typeface="Segoe UI"/>
              </a:defRPr>
            </a:pPr>
            <a:r>
              <a:t>If the workflow helps,</a:t>
            </a:r>
          </a:p>
          <a:p>
            <a:pPr>
              <a:spcAft>
                <a:spcPts val="500"/>
              </a:spcAft>
              <a:defRPr sz="1900" b="0">
                <a:solidFill>
                  <a:srgbClr val="F8F7F2"/>
                </a:solidFill>
                <a:latin typeface="Segoe UI"/>
              </a:defRPr>
            </a:pPr>
            <a:r>
              <a:t>invite nearby cafés and</a:t>
            </a:r>
          </a:p>
          <a:p>
            <a:pPr>
              <a:spcAft>
                <a:spcPts val="500"/>
              </a:spcAft>
              <a:defRPr sz="1900" b="0">
                <a:solidFill>
                  <a:srgbClr val="F8F7F2"/>
                </a:solidFill>
                <a:latin typeface="Segoe UI"/>
              </a:defRPr>
            </a:pPr>
            <a:r>
              <a:t>additional event stands.</a:t>
            </a:r>
          </a:p>
        </p:txBody>
      </p:sp>
      <p:sp>
        <p:nvSpPr>
          <p:cNvPr id="18" name="TextBox 17"/>
          <p:cNvSpPr txBox="1"/>
          <p:nvPr/>
        </p:nvSpPr>
        <p:spPr>
          <a:xfrm>
            <a:off x="603504" y="5779008"/>
            <a:ext cx="7315200" cy="411480"/>
          </a:xfrm>
          <a:prstGeom prst="rect">
            <a:avLst/>
          </a:prstGeom>
          <a:noFill/>
        </p:spPr>
        <p:txBody>
          <a:bodyPr wrap="square" lIns="0" tIns="0" rIns="0" bIns="0">
            <a:spAutoFit/>
          </a:bodyPr>
          <a:lstStyle/>
          <a:p>
            <a:pPr>
              <a:spcAft>
                <a:spcPts val="500"/>
              </a:spcAft>
              <a:defRPr sz="2400" b="0">
                <a:solidFill>
                  <a:srgbClr val="DBE7AC"/>
                </a:solidFill>
                <a:latin typeface="Georgia"/>
              </a:defRPr>
            </a:pPr>
            <a:r>
              <a:t>Help us find the first campus pilot.</a:t>
            </a:r>
          </a:p>
        </p:txBody>
      </p:sp>
      <p:sp>
        <p:nvSpPr>
          <p:cNvPr id="19" name="TextBox 18">
            <a:hlinkClick r:id="rId3"/>
          </p:cNvPr>
          <p:cNvSpPr txBox="1"/>
          <p:nvPr/>
        </p:nvSpPr>
        <p:spPr>
          <a:xfrm>
            <a:off x="7863840" y="5852160"/>
            <a:ext cx="3749039" cy="502920"/>
          </a:xfrm>
          <a:prstGeom prst="rect">
            <a:avLst/>
          </a:prstGeom>
          <a:noFill/>
        </p:spPr>
        <p:txBody>
          <a:bodyPr wrap="square" lIns="0" tIns="0" rIns="0" bIns="0">
            <a:spAutoFit/>
          </a:bodyPr>
          <a:lstStyle/>
          <a:p>
            <a:pPr>
              <a:spcAft>
                <a:spcPts val="500"/>
              </a:spcAft>
              <a:defRPr sz="1300" b="0">
                <a:solidFill>
                  <a:srgbClr val="F8F7F2"/>
                </a:solidFill>
                <a:latin typeface="Segoe UI"/>
              </a:defRPr>
            </a:pPr>
            <a:r>
              <a:t>Explore the public GitHub repository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1382</Words>
  <Application>Microsoft Office PowerPoint</Application>
  <PresentationFormat>Widescreen</PresentationFormat>
  <Paragraphs>132</Paragraphs>
  <Slides>7</Slides>
  <Notes>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Winterholler, Dennis</cp:lastModifiedBy>
  <cp:revision>2</cp:revision>
  <dcterms:created xsi:type="dcterms:W3CDTF">2013-01-27T09:14:16Z</dcterms:created>
  <dcterms:modified xsi:type="dcterms:W3CDTF">2026-09-27T17:19:05Z</dcterms:modified>
  <cp:category/>
</cp:coreProperties>
</file>